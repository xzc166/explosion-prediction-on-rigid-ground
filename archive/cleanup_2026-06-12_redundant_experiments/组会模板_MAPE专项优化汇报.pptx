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  <p:sldId id="267" r:id="rIdSlide12"/>
    <p:sldId id="268" r:id="rIdSlide13"/>
    <p:sldId id="269" r:id="rIdSlide14"/>
    <p:sldId id="270" r:id="rIdSlide15"/>
    <p:sldId id="271" r:id="rIdSlide16"/>
    <p:sldId id="272" r:id="rIdSlide17"/>
    <p:sldId id="273" r:id="rIdSlide18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ike" initials="y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5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notesMaster" Target="notesMasters/notesMaster1.xml"/><Relationship Id="rId23" Type="http://schemas.openxmlformats.org/officeDocument/2006/relationships/tags" Target="tags/tag17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Relationship Id="rIdSlide6" Type="http://schemas.openxmlformats.org/officeDocument/2006/relationships/slide" Target="slides/slide6.xml"/><Relationship Id="rIdSlide7" Type="http://schemas.openxmlformats.org/officeDocument/2006/relationships/slide" Target="slides/slide7.xml"/><Relationship Id="rIdSlide8" Type="http://schemas.openxmlformats.org/officeDocument/2006/relationships/slide" Target="slides/slide8.xml"/><Relationship Id="rIdSlide9" Type="http://schemas.openxmlformats.org/officeDocument/2006/relationships/slide" Target="slides/slide9.xml"/><Relationship Id="rIdSlide10" Type="http://schemas.openxmlformats.org/officeDocument/2006/relationships/slide" Target="slides/slide10.xml"/><Relationship Id="rIdSlide11" Type="http://schemas.openxmlformats.org/officeDocument/2006/relationships/slide" Target="slides/slide11.xml"/><Relationship Id="rIdSlide12" Type="http://schemas.openxmlformats.org/officeDocument/2006/relationships/slide" Target="slides/slide12.xml"/><Relationship Id="rIdSlide13" Type="http://schemas.openxmlformats.org/officeDocument/2006/relationships/slide" Target="slides/slide13.xml"/><Relationship Id="rIdSlide14" Type="http://schemas.openxmlformats.org/officeDocument/2006/relationships/slide" Target="slides/slide14.xml"/><Relationship Id="rIdSlide15" Type="http://schemas.openxmlformats.org/officeDocument/2006/relationships/slide" Target="slides/slide15.xml"/><Relationship Id="rIdSlide16" Type="http://schemas.openxmlformats.org/officeDocument/2006/relationships/slide" Target="slides/slide16.xml"/><Relationship Id="rIdSlide17" Type="http://schemas.openxmlformats.org/officeDocument/2006/relationships/slide" Target="slides/slide17.xml"/><Relationship Id="rIdSlide18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787DDD-C893-4D07-8DB7-5A0DFEE2A7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072249-B491-440F-AE6D-D3A5C501C68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448800" y="6574971"/>
            <a:ext cx="2743200" cy="283029"/>
          </a:xfrm>
          <a:prstGeom prst="rect">
            <a:avLst/>
          </a:prstGeom>
        </p:spPr>
        <p:txBody>
          <a:bodyPr/>
          <a:lstStyle>
            <a:lvl1pPr algn="r">
              <a:defRPr sz="1400" b="1" i="0" baseline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0"/>
            <a:ext cx="12192000" cy="8811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7975" y="231253"/>
            <a:ext cx="10515600" cy="5991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2" name="矩形 11"/>
          <p:cNvSpPr/>
          <p:nvPr userDrawn="1"/>
        </p:nvSpPr>
        <p:spPr>
          <a:xfrm>
            <a:off x="0" y="6580909"/>
            <a:ext cx="12192000" cy="2715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55"/>
          <a:stretch>
            <a:fillRect/>
          </a:stretch>
        </p:blipFill>
        <p:spPr>
          <a:xfrm>
            <a:off x="9745446" y="26281"/>
            <a:ext cx="2328125" cy="854865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542828"/>
            <a:ext cx="2743200" cy="365125"/>
          </a:xfrm>
          <a:prstGeom prst="rect">
            <a:avLst/>
          </a:prstGeom>
        </p:spPr>
        <p:txBody>
          <a:bodyPr/>
          <a:lstStyle>
            <a:lvl1pPr algn="r" fontAlgn="ctr">
              <a:defRPr sz="1400" b="1" i="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448800" y="6574971"/>
            <a:ext cx="2743200" cy="283029"/>
          </a:xfrm>
          <a:prstGeom prst="rect">
            <a:avLst/>
          </a:prstGeom>
        </p:spPr>
        <p:txBody>
          <a:bodyPr/>
          <a:lstStyle>
            <a:lvl1pPr algn="r">
              <a:defRPr sz="1400" b="1" i="0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609600" y="2794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2794000"/>
            <a:ext cx="3276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3302000"/>
            <a:ext cx="3276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096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762000" y="4826000"/>
            <a:ext cx="3276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62000" y="5334000"/>
            <a:ext cx="3276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777240" y="1463040"/>
            <a:ext cx="10607040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60"/>
              </a:spcAft>
            </a:pPr>
            <a:r>
              <a:rPr lang="zh-CN" sz="34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MAPE专项优化实验总结</a:t>
            </a:r>
            <a:endParaRPr lang="zh-CN" sz="3400"/>
          </a:p>
        </p:txBody>
      </p:sp>
      <p:sp>
        <p:nvSpPr>
          <p:cNvPr id="3" name="文本框 3"/>
          <p:cNvSpPr txBox="1"/>
          <p:nvPr/>
        </p:nvSpPr>
        <p:spPr>
          <a:xfrm>
            <a:off x="1005840" y="25146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60"/>
              </a:spcAft>
            </a:pPr>
            <a:r>
              <a:rPr lang="zh-CN" sz="22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爆炸超压预测模型优化与严格复核</a:t>
            </a:r>
            <a:endParaRPr lang="zh-CN" sz="2200"/>
          </a:p>
        </p:txBody>
      </p:sp>
      <p:sp>
        <p:nvSpPr>
          <p:cNvPr id="4" name="文本框 4"/>
          <p:cNvSpPr txBox="1"/>
          <p:nvPr/>
        </p:nvSpPr>
        <p:spPr>
          <a:xfrm>
            <a:off x="1371600" y="4069080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60"/>
              </a:spcAft>
            </a:pPr>
            <a:r>
              <a:rPr lang="zh-CN" sz="17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组会汇报</a:t>
            </a:r>
            <a:endParaRPr lang="zh-CN" sz="1700"/>
          </a:p>
          <a:p>
            <a:pPr algn="ctr">
              <a:spcAft>
                <a:spcPts val="60"/>
              </a:spcAft>
            </a:pPr>
            <a:r>
              <a:rPr lang="zh-CN" sz="17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核心问题：快速筛选结果是否能作为可靠泛化提升？</a:t>
            </a:r>
            <a:endParaRPr lang="zh-CN" sz="17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/>
          <p:nvPr/>
        </p:nvSpPr>
        <p:spPr>
          <a:xfrm>
            <a:off x="320040" y="146304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27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汇报提纲</a:t>
            </a:r>
            <a:endParaRPr lang="zh-CN" sz="2700"/>
          </a:p>
        </p:txBody>
      </p:sp>
      <p:sp>
        <p:nvSpPr>
          <p:cNvPr id="3" name="文本框 3"/>
          <p:cNvSpPr txBox="1"/>
          <p:nvPr/>
        </p:nvSpPr>
        <p:spPr>
          <a:xfrm>
            <a:off x="502920" y="960120"/>
            <a:ext cx="3931920" cy="5120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说明当前评估口径：五折 case-wise 划分，主指标为测试集平均超压 MAPE。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回顾基线和五次优化：每次说明为什么做、怎么做、结果如何。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重点解释第五次严格 train/validation/test 复核：为什么 15.26% 只能作为试验参考。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给出后续优化规范：未严格复核前不得写入正式最佳。</a:t>
            </a:r>
            <a:endParaRPr lang="zh-CN" sz="1450"/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4572000" y="987552"/>
          <a:ext cx="71323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817"/>
                <a:gridCol w="2710281"/>
                <a:gridCol w="3138220"/>
              </a:tblGrid>
              <a:tr h="877824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听众需要带走的信息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877824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背景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数据、指标、模型基线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先理解 MAPE 为什么难降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877824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优化历程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五轮实验逐轮解释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哪些方向有效，哪些只是参考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877824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严格复核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validation 选择，test 一次评估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正式结论必须避免 test 泄漏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877824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下一步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候选方案与复核规范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以后先复核再写正式结果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/>
          <p:nvPr/>
        </p:nvSpPr>
        <p:spPr>
          <a:xfrm>
            <a:off x="320040" y="146304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27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评估口径与硬性规则</a:t>
            </a:r>
            <a:endParaRPr lang="zh-CN" sz="2700"/>
          </a:p>
        </p:txBody>
      </p:sp>
      <p:sp>
        <p:nvSpPr>
          <p:cNvPr id="3" name="文本框 3"/>
          <p:cNvSpPr txBox="1"/>
          <p:nvPr/>
        </p:nvSpPr>
        <p:spPr>
          <a:xfrm>
            <a:off x="685800" y="1005840"/>
            <a:ext cx="10698480" cy="4846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17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数据目录：data/collect_pressure_peak；沿用当前五折 case-wise 划分。</a:t>
            </a:r>
            <a:endParaRPr lang="zh-CN" sz="1700"/>
          </a:p>
          <a:p>
            <a:pPr algn="l">
              <a:spcAft>
                <a:spcPts val="60"/>
              </a:spcAft>
            </a:pPr>
            <a:r>
              <a:rPr lang="zh-CN" sz="17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主指标：测试集平均超压 MAPE；R2 只作为辅助指标。</a:t>
            </a:r>
            <a:endParaRPr lang="zh-CN" sz="1700"/>
          </a:p>
          <a:p>
            <a:pPr algn="l">
              <a:spcAft>
                <a:spcPts val="60"/>
              </a:spcAft>
            </a:pPr>
            <a:r>
              <a:rPr lang="zh-CN" sz="17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快速筛选口径：部分早期实验让外层 test 参与 checkpoint、成员排序或策略选择，因此只能作为试验参考。</a:t>
            </a:r>
            <a:endParaRPr lang="zh-CN" sz="1700"/>
          </a:p>
          <a:p>
            <a:pPr algn="l">
              <a:spcAft>
                <a:spcPts val="60"/>
              </a:spcAft>
            </a:pPr>
            <a:r>
              <a:rPr lang="zh-CN" sz="17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严格口径：每折外层 train cases 内再划 validation；所有选择只看 validation；外层 test 只评估一次。</a:t>
            </a:r>
            <a:endParaRPr lang="zh-CN" sz="1700"/>
          </a:p>
        </p:txBody>
      </p:sp>
      <p:sp>
        <p:nvSpPr>
          <p:cNvPr id="4" name="文本框 4"/>
          <p:cNvSpPr txBox="1"/>
          <p:nvPr/>
        </p:nvSpPr>
        <p:spPr>
          <a:xfrm>
            <a:off x="685800" y="5486400"/>
            <a:ext cx="10698480" cy="502920"/>
          </a:xfrm>
          <a:prstGeom prst="rect">
            <a:avLst/>
          </a:prstGeom>
          <a:solidFill>
            <a:srgbClr val="FCE4D6"/>
          </a:solidFill>
          <a:ln>
            <a:solidFill>
              <a:srgbClr val="F4B183"/>
            </a:solidFill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组会结论口径：后续优化结果必须通过严格复核后才能写入正式结果，否则只能作为试验参考。</a:t>
            </a:r>
            <a:endParaRPr lang="zh-CN" sz="13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/>
          <p:nvPr/>
        </p:nvSpPr>
        <p:spPr>
          <a:xfrm>
            <a:off x="320040" y="146304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27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基线阶段：先建立可比较起点</a:t>
            </a:r>
            <a:endParaRPr lang="zh-CN" sz="2700"/>
          </a:p>
        </p:txBody>
      </p:sp>
      <p:sp>
        <p:nvSpPr>
          <p:cNvPr id="3" name="文本框 3"/>
          <p:cNvSpPr txBox="1"/>
          <p:nvPr/>
        </p:nvSpPr>
        <p:spPr>
          <a:xfrm>
            <a:off x="502920" y="960120"/>
            <a:ext cx="3931920" cy="5120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目的：确认当前 case-wise MLP 在五折划分下的基础水平。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模型：MLP 主结构不变，输入扩展为 10 维物理特征。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关键设置：SiLU 激活、Softplus 输出正压力、MAPE loss、400 epoch。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观察：整体能控制在 20% 以下，但远场和低超压点容易放大 MAPE。</a:t>
            </a:r>
            <a:endParaRPr lang="zh-CN" sz="1450"/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4572000" y="987552"/>
          <a:ext cx="71323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342"/>
                <a:gridCol w="1283817"/>
                <a:gridCol w="1141171"/>
                <a:gridCol w="2424988"/>
              </a:tblGrid>
              <a:tr h="219456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  <a:endParaRPr lang="zh-CN" sz="110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Test MAPE</a:t>
                      </a:r>
                      <a:endParaRPr lang="zh-CN" sz="110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Test R2</a:t>
                      </a:r>
                      <a:endParaRPr lang="zh-CN" sz="110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</a:t>
                      </a:r>
                      <a:endParaRPr lang="zh-CN" sz="110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219456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1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原始 case-wise MLP</a:t>
                      </a:r>
                      <a:endParaRPr lang="zh-CN" sz="110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1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17.23%</a:t>
                      </a:r>
                      <a:endParaRPr lang="zh-CN" sz="110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1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0.7838</a:t>
                      </a:r>
                      <a:endParaRPr lang="zh-CN" sz="110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1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作为后续所有集成和训练目标优化的参照</a:t>
                      </a:r>
                      <a:endParaRPr lang="zh-CN" sz="110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822960" y="214884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60"/>
              </a:spcAft>
            </a:pPr>
            <a:r>
              <a:rPr lang="zh-CN" sz="34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第一部分：快速筛选阶段</a:t>
            </a:r>
            <a:endParaRPr lang="zh-CN" sz="3400"/>
          </a:p>
        </p:txBody>
      </p:sp>
      <p:sp>
        <p:nvSpPr>
          <p:cNvPr id="3" name="文本框 3"/>
          <p:cNvSpPr txBox="1"/>
          <p:nvPr/>
        </p:nvSpPr>
        <p:spPr>
          <a:xfrm>
            <a:off x="1097280" y="3063240"/>
            <a:ext cx="996696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60"/>
              </a:spcAft>
            </a:pPr>
            <a:r>
              <a:rPr lang="zh-CN" sz="18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从基线到成员集成、加权复用和训练目标探索</a:t>
            </a:r>
            <a:endParaRPr lang="zh-CN" sz="18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/>
          <p:nvPr/>
        </p:nvSpPr>
        <p:spPr>
          <a:xfrm>
            <a:off x="320040" y="146304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27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第一次优化：Dropout p 网格等权集成</a:t>
            </a:r>
            <a:endParaRPr lang="zh-CN" sz="2700"/>
          </a:p>
        </p:txBody>
      </p:sp>
      <p:sp>
        <p:nvSpPr>
          <p:cNvPr id="3" name="文本框 3"/>
          <p:cNvSpPr txBox="1"/>
          <p:nvPr/>
        </p:nvSpPr>
        <p:spPr>
          <a:xfrm>
            <a:off x="502920" y="960120"/>
            <a:ext cx="3931920" cy="5120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为什么做：单模型对折和算例敏感，希望通过多个 dropout 成员降低方差。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怎么做：同一 MLP 主结构，设置 p = 0.0/0.1/0.2/0.3/0.5。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集成方式：每折 5 个成员，预测结果等权平均。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怎么理解：等权集成能带来小幅收益，但弱成员也被平均进去，收益有限。</a:t>
            </a:r>
            <a:endParaRPr lang="zh-CN" sz="1450"/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4572000" y="987552"/>
          <a:ext cx="71323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4403"/>
                <a:gridCol w="1141171"/>
                <a:gridCol w="1212494"/>
                <a:gridCol w="1141171"/>
                <a:gridCol w="1783080"/>
              </a:tblGrid>
              <a:tr h="146304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成员数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Test MAPE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Test R2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结论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146304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基线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17.23%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0.7838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基础模型可用但仍有波动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146304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Dropout p 等权集成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5/折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16.85%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0.7905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MAPE 小幅下降，说明集成有价值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/>
          <p:nvPr/>
        </p:nvSpPr>
        <p:spPr>
          <a:xfrm>
            <a:off x="320040" y="146304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27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第二次优化：复用成员做 Top-K / Softmax 加权</a:t>
            </a:r>
            <a:endParaRPr lang="zh-CN" sz="2700"/>
          </a:p>
        </p:txBody>
      </p:sp>
      <p:sp>
        <p:nvSpPr>
          <p:cNvPr id="3" name="文本框 3"/>
          <p:cNvSpPr txBox="1"/>
          <p:nvPr/>
        </p:nvSpPr>
        <p:spPr>
          <a:xfrm>
            <a:off x="502920" y="960120"/>
            <a:ext cx="3931920" cy="5120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为什么做：第一次说明等权平均会受弱成员拖累，需要在推理阶段筛选成员。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怎么做：不重新训练，复用第一次的 25 个 dropout 成员。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策略：equal、top1/top2/top3、inv_mape、softmax_top3_t2/t5。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怎么理解：成员筛选和权重分配比单纯等权更有效，softmax_top3_t2 在快速口径下最好。</a:t>
            </a:r>
            <a:endParaRPr lang="zh-CN" sz="1450"/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4572000" y="987552"/>
          <a:ext cx="71323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988"/>
                <a:gridCol w="1569110"/>
                <a:gridCol w="1569110"/>
                <a:gridCol w="1569110"/>
              </a:tblGrid>
              <a:tr h="73152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策略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Train MAPE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Test MAPE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Test R2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equal_all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15.49%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16.85%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0.7905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top2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15.15%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15.88%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0.8246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inv_mape_top3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14.82%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16.16%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0.8323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softmax_top3_t2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14.42%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15.79%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0.8446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softmax_top3_t5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14.67%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16.01%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10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0.8370</a:t>
                      </a:r>
                      <a:endParaRPr lang="zh-CN" sz="10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文本框 5"/>
          <p:cNvSpPr txBox="1"/>
          <p:nvPr/>
        </p:nvSpPr>
        <p:spPr>
          <a:xfrm>
            <a:off x="4572000" y="5486400"/>
            <a:ext cx="7132320" cy="548640"/>
          </a:xfrm>
          <a:prstGeom prst="rect">
            <a:avLst/>
          </a:prstGeom>
          <a:solidFill>
            <a:srgbClr val="FCE4D6"/>
          </a:solidFill>
          <a:ln>
            <a:solidFill>
              <a:srgbClr val="F4B183"/>
            </a:solidFill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1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注意：本轮仍属于快速筛选口径，结果用于判断方向，不等于严格泛化结论。</a:t>
            </a:r>
            <a:endParaRPr lang="zh-CN" sz="125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/>
          <p:nvPr/>
        </p:nvSpPr>
        <p:spPr>
          <a:xfrm>
            <a:off x="320040" y="146304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27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第三次优化：MAPE 专项训练</a:t>
            </a:r>
            <a:endParaRPr lang="zh-CN" sz="2700"/>
          </a:p>
        </p:txBody>
      </p:sp>
      <p:sp>
        <p:nvSpPr>
          <p:cNvPr id="3" name="文本框 3"/>
          <p:cNvSpPr txBox="1"/>
          <p:nvPr/>
        </p:nvSpPr>
        <p:spPr>
          <a:xfrm>
            <a:off x="502920" y="960120"/>
            <a:ext cx="3931920" cy="5120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为什么做：前两轮主要改推理层，第三轮尝试从训练目标本身降低 MAPE。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误差线索：高 Z 远场、低超压区间对 MAPE 影响较大。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尝试方向：log 目标、Huber/L1、高 Z 样本加权、组合方案。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怎么理解：log 目标能提升部分 R2，但对主指标 MAPE 不友好；高 Z 加权有价值但不够。</a:t>
            </a:r>
            <a:endParaRPr lang="zh-CN" sz="1450"/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4572000" y="987552"/>
          <a:ext cx="71323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069848"/>
                <a:gridCol w="1069848"/>
                <a:gridCol w="1069848"/>
                <a:gridCol w="2139696"/>
              </a:tblGrid>
              <a:tr h="877824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配置/策略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Train MAPE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Test MAPE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Test R2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877824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log_l1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13.90%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18.22%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0.8834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R2 较好但 MAPE 变差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877824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z_weighted_mape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15.11%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16.92%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0.7964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单配置中最好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877824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equal_top2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12.55%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16.15%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0.8975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配置级集成有改善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877824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softmax_top3_t2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12.72%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16.14%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0.9046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未超过第二轮 15.79%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/>
          <p:nvPr/>
        </p:nvSpPr>
        <p:spPr>
          <a:xfrm>
            <a:off x="320040" y="146304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27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第四次优化：Z 分段权重只读试算</a:t>
            </a:r>
            <a:endParaRPr lang="zh-CN" sz="2700"/>
          </a:p>
        </p:txBody>
      </p:sp>
      <p:sp>
        <p:nvSpPr>
          <p:cNvPr id="3" name="文本框 3"/>
          <p:cNvSpPr txBox="1"/>
          <p:nvPr/>
        </p:nvSpPr>
        <p:spPr>
          <a:xfrm>
            <a:off x="502920" y="960120"/>
            <a:ext cx="3931920" cy="5120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为什么做：如果误差集中在不同 Z 区间，统一权重可能不是最优。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怎么做：复用第二轮已有 dropout 成员，不重新训练；按 Z 分段后每段独立选成员/权重。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只读试算：不落正式预测目录，不覆盖已有 weighted_reuse 结果。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怎么理解：局部折有改善，但整体没有低于 15.79%，说明简单分段收益不足。</a:t>
            </a:r>
            <a:endParaRPr lang="zh-CN" sz="1450"/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4572000" y="987552"/>
          <a:ext cx="71323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5574"/>
                <a:gridCol w="1283817"/>
                <a:gridCol w="1141171"/>
                <a:gridCol w="1711756"/>
              </a:tblGrid>
              <a:tr h="877824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策略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Test MAPE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Test R2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877824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现有 softmax_top3_t2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15.79%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0.8446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第二轮快速参考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877824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 三分位分段 Top2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15.89%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0.8538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最接近，但仍高 0.10 个百分点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877824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 三分位分段 Softmax T=5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15.93%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0.8461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整体收益不足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877824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 远场二段 Softmax T=5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16.15%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0.8432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退化更明显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822960" y="214884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60"/>
              </a:spcAft>
            </a:pPr>
            <a:r>
              <a:rPr lang="zh-CN" sz="34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第二部分：第五次成员池扩展</a:t>
            </a:r>
            <a:endParaRPr lang="zh-CN" sz="3400"/>
          </a:p>
        </p:txBody>
      </p:sp>
      <p:sp>
        <p:nvSpPr>
          <p:cNvPr id="3" name="文本框 3"/>
          <p:cNvSpPr txBox="1"/>
          <p:nvPr/>
        </p:nvSpPr>
        <p:spPr>
          <a:xfrm>
            <a:off x="1097280" y="3063240"/>
            <a:ext cx="996696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60"/>
              </a:spcAft>
            </a:pPr>
            <a:r>
              <a:rPr lang="zh-CN" sz="18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快速结果看似提升，但必须接受严格复核</a:t>
            </a:r>
            <a:endParaRPr lang="zh-CN" sz="18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/>
          <p:nvPr/>
        </p:nvSpPr>
        <p:spPr>
          <a:xfrm>
            <a:off x="320040" y="146304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27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第五次优化：MAPE loss 多样性成员池</a:t>
            </a:r>
            <a:endParaRPr lang="zh-CN" sz="2700"/>
          </a:p>
        </p:txBody>
      </p:sp>
      <p:sp>
        <p:nvSpPr>
          <p:cNvPr id="3" name="文本框 3"/>
          <p:cNvSpPr txBox="1"/>
          <p:nvPr/>
        </p:nvSpPr>
        <p:spPr>
          <a:xfrm>
            <a:off x="502920" y="960120"/>
            <a:ext cx="3931920" cy="5120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为什么做：第四次分段没有突破，方向回到扩大强成员多样性。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保留项：MAPE loss 和当前 10 维物理特征，不再扩大 log 目标。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变化项：dropout、学习率、weight decay、随机种子。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成员规模：8 个配置 × 5 折，共 40 个成员指标。</a:t>
            </a:r>
            <a:endParaRPr lang="zh-CN" sz="1450"/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4572000" y="987552"/>
          <a:ext cx="71323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7635"/>
                <a:gridCol w="1141171"/>
                <a:gridCol w="1141171"/>
                <a:gridCol w="1426464"/>
                <a:gridCol w="855878"/>
              </a:tblGrid>
              <a:tr h="73152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成员类别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Dropout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LR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Weight decay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Seed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p0_lr1e-3_wd0_s0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1e-3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p01_lr1e-3_wd0_s1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1e-3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p02_lr1e-3_wd1e-6_s0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1e-3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1e-6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p03_lr1e-3_wd1e-6_s1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1e-3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1e-6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四个 5e-4 变体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0.0-0.3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5e-4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0/1e-6/1e-5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0-2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/>
          <p:nvPr/>
        </p:nvSpPr>
        <p:spPr>
          <a:xfrm>
            <a:off x="320040" y="146304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27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第五次快速筛选结果：15.26% 只能作为参考</a:t>
            </a:r>
            <a:endParaRPr lang="zh-CN" sz="2700"/>
          </a:p>
        </p:txBody>
      </p:sp>
      <p:sp>
        <p:nvSpPr>
          <p:cNvPr id="3" name="文本框 3"/>
          <p:cNvSpPr txBox="1"/>
          <p:nvPr/>
        </p:nvSpPr>
        <p:spPr>
          <a:xfrm>
            <a:off x="502920" y="960120"/>
            <a:ext cx="3931920" cy="5120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快速结果：softmax_top3_t2 的 Test MAPE 为 15.26%，看起来优于第二轮 15.79%。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分段追加试算：Z 三分位分段 Softmax Top3 T=5 为 16.20%，没有超过统一加权。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关键风险：成员验证 MAPE 和策略选择仍使用外层 test fold。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怎么理解：这说明方向值得复核，但不能说明已经取得可靠泛化提升。</a:t>
            </a:r>
            <a:endParaRPr lang="zh-CN" sz="1450"/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4572000" y="987552"/>
          <a:ext cx="71323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1212494"/>
                <a:gridCol w="1212494"/>
                <a:gridCol w="1069848"/>
                <a:gridCol w="1497787"/>
              </a:tblGrid>
              <a:tr h="73152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策略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Train MAPE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Test MAPE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Test R2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top2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15.26%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15.46%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0.8207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快速参考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top3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15.06%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15.35%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0.8191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快速参考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inv_mape_top3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15.05%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15.33%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0.8190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快速参考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softmax_top3_t2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15.01%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15.26%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0.8175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快速最佳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softmax_top3_t5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15.04%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15.31%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0.8186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快速参考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文本框 5"/>
          <p:cNvSpPr txBox="1"/>
          <p:nvPr/>
        </p:nvSpPr>
        <p:spPr>
          <a:xfrm>
            <a:off x="4572000" y="5486400"/>
            <a:ext cx="7132320" cy="548640"/>
          </a:xfrm>
          <a:prstGeom prst="rect">
            <a:avLst/>
          </a:prstGeom>
          <a:solidFill>
            <a:srgbClr val="FCE4D6"/>
          </a:solidFill>
          <a:ln>
            <a:solidFill>
              <a:srgbClr val="F4B183"/>
            </a:solidFill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1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这页要强调：15.26% 不是正式最佳，而是快速筛选结果。</a:t>
            </a:r>
            <a:endParaRPr lang="zh-CN" sz="125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/>
          <p:nvPr/>
        </p:nvSpPr>
        <p:spPr>
          <a:xfrm>
            <a:off x="320040" y="146304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27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为什么必须严格复核？</a:t>
            </a:r>
            <a:endParaRPr lang="zh-CN" sz="2700"/>
          </a:p>
        </p:txBody>
      </p:sp>
      <p:sp>
        <p:nvSpPr>
          <p:cNvPr id="3" name="文本框 3"/>
          <p:cNvSpPr txBox="1"/>
          <p:nvPr/>
        </p:nvSpPr>
        <p:spPr>
          <a:xfrm>
            <a:off x="502920" y="960120"/>
            <a:ext cx="3931920" cy="5120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问题本质：如果外层 test 同时用于选择模型和评估模型，就会把 test 当成调参集。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会发生什么：策略越多、成员越多，越容易在 test 上“挑中”偶然好的组合。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严格复核做法：只用 validation 做 checkpoint、成员排序、权重和策略选择。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最终评估：外层 test 在策略确定后只看一次，才接近真实泛化表现。</a:t>
            </a:r>
            <a:endParaRPr lang="zh-CN" sz="1450"/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4572000" y="987552"/>
          <a:ext cx="71323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1756"/>
                <a:gridCol w="2710281"/>
                <a:gridCol w="2710281"/>
              </a:tblGrid>
              <a:tr h="73152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环节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快速筛选口径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严格复核口径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checkpoint 选择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可能使用外层 test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只使用 validation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成员 MAPE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外层 test 参与排序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validation 参与排序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Top-K/Softmax 权重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 test 表现加权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 validation 表现加权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最终策略选择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 test MAPE 选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 validation MAPE 选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外层 test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参与选择和评估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5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只评估一次</a:t>
                      </a:r>
                      <a:endParaRPr lang="zh-CN" sz="95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/>
          <p:nvPr/>
        </p:nvSpPr>
        <p:spPr>
          <a:xfrm>
            <a:off x="320040" y="146304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27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第五次严格复核结果：没有复现提升</a:t>
            </a:r>
            <a:endParaRPr lang="zh-CN" sz="2700"/>
          </a:p>
        </p:txBody>
      </p:sp>
      <p:sp>
        <p:nvSpPr>
          <p:cNvPr id="3" name="文本框 3"/>
          <p:cNvSpPr txBox="1"/>
          <p:nvPr/>
        </p:nvSpPr>
        <p:spPr>
          <a:xfrm>
            <a:off x="502920" y="960120"/>
            <a:ext cx="3931920" cy="5120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严格目录：ensemble_outputs/mape_diverse_reuse_strict，未覆盖快速试验产物。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每个外层 fold 内部重新划分 validation cases。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validation 选出的策略仍是 softmax_top3_t2。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最终 test MAPE 为 19.95%，明显高于快速参考 15.26% 和第二轮参考 15.79%。</a:t>
            </a:r>
            <a:endParaRPr lang="zh-CN" sz="1450"/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4572000" y="987552"/>
          <a:ext cx="71323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110"/>
                <a:gridCol w="1426464"/>
                <a:gridCol w="1212494"/>
                <a:gridCol w="1141171"/>
                <a:gridCol w="927201"/>
                <a:gridCol w="855878"/>
              </a:tblGrid>
              <a:tr h="109728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策略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选择依据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Validation MAPE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Test MAPE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Test R2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109728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第五次严格复核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softmax_top3_t2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validation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17.48%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19.95%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0.8665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109728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第五次快速参考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softmax_top3_t2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outer test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15.26%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0.8175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109728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第二次快速参考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softmax_top3_t2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outer test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15.79%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1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0.8446</a:t>
                      </a:r>
                      <a:endParaRPr lang="zh-CN" sz="91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文本框 5"/>
          <p:cNvSpPr txBox="1"/>
          <p:nvPr/>
        </p:nvSpPr>
        <p:spPr>
          <a:xfrm>
            <a:off x="4572000" y="5486400"/>
            <a:ext cx="7132320" cy="548640"/>
          </a:xfrm>
          <a:prstGeom prst="rect">
            <a:avLst/>
          </a:prstGeom>
          <a:solidFill>
            <a:srgbClr val="FCE4D6"/>
          </a:solidFill>
          <a:ln>
            <a:solidFill>
              <a:srgbClr val="F4B183"/>
            </a:solidFill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1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正式结论：第五次 15.26% 降级为试验参考，不能作为可靠提升。</a:t>
            </a:r>
            <a:endParaRPr lang="zh-CN" sz="125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/>
          <p:nvPr/>
        </p:nvSpPr>
        <p:spPr>
          <a:xfrm>
            <a:off x="320040" y="146304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27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总体结果登记：区分试验参考和正式复核</a:t>
            </a:r>
            <a:endParaRPr lang="zh-CN" sz="2700"/>
          </a:p>
        </p:txBody>
      </p:sp>
      <p:graphicFrame>
        <p:nvGraphicFramePr>
          <p:cNvPr id="3" name="表格 3"/>
          <p:cNvGraphicFramePr>
            <a:graphicFrameLocks noGrp="1"/>
          </p:cNvGraphicFramePr>
          <p:nvPr/>
        </p:nvGraphicFramePr>
        <p:xfrm>
          <a:off x="502920" y="960120"/>
          <a:ext cx="11201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0210"/>
                <a:gridCol w="4256532"/>
                <a:gridCol w="1568196"/>
                <a:gridCol w="1456182"/>
                <a:gridCol w="2240280"/>
              </a:tblGrid>
              <a:tr h="56007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Test MAPE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Test R2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56007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基线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原始 case-wise MLP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17.23%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0.7838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历史参考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56007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第一次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Dropout p 等权集成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16.85%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0.7905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试验参考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56007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第二次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dropout 成员 softmax_top3_t2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15.79%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0.8446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试验参考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56007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第三次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MAPE 专项 softmax_top3_t2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16.14%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0.9046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试验参考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56007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第四次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 三分位 Top2 只读试算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15.89%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0.8538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试验参考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56007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第五次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MAPE 多样性 softmax_top3_t2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15.26%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0.8175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试验参考，严格复核未通过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56007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第五次严格复核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MAPE 多样性 softmax_top3_t2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19.95%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0.8665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69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正式复核结果</a:t>
                      </a:r>
                      <a:endParaRPr lang="zh-CN" sz="869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文本框 4"/>
          <p:cNvSpPr txBox="1"/>
          <p:nvPr/>
        </p:nvSpPr>
        <p:spPr>
          <a:xfrm>
            <a:off x="640080" y="5532120"/>
            <a:ext cx="10789920" cy="502920"/>
          </a:xfrm>
          <a:prstGeom prst="rect">
            <a:avLst/>
          </a:prstGeom>
          <a:solidFill>
            <a:srgbClr val="FCE4D6"/>
          </a:solidFill>
          <a:ln>
            <a:solidFill>
              <a:srgbClr val="F4B183"/>
            </a:solidFill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后续汇报和论文写作中，应把快速结果放在探索部分，把严格复核结果放在正式结论部分。</a:t>
            </a:r>
            <a:endParaRPr lang="zh-CN" sz="13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/>
          <p:nvPr/>
        </p:nvSpPr>
        <p:spPr>
          <a:xfrm>
            <a:off x="320040" y="146304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27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关键结论</a:t>
            </a:r>
            <a:endParaRPr lang="zh-CN" sz="2700"/>
          </a:p>
        </p:txBody>
      </p:sp>
      <p:sp>
        <p:nvSpPr>
          <p:cNvPr id="3" name="文本框 3"/>
          <p:cNvSpPr txBox="1"/>
          <p:nvPr/>
        </p:nvSpPr>
        <p:spPr>
          <a:xfrm>
            <a:off x="685800" y="1005840"/>
            <a:ext cx="10698480" cy="4846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17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第一，简单 dropout 等权集成有小幅收益，但弱成员会拖累平均。</a:t>
            </a:r>
            <a:endParaRPr lang="zh-CN" sz="1700"/>
          </a:p>
          <a:p>
            <a:pPr algn="l">
              <a:spcAft>
                <a:spcPts val="60"/>
              </a:spcAft>
            </a:pPr>
            <a:r>
              <a:rPr lang="zh-CN" sz="17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第二，Top-K/Softmax 加权在快速筛选中最有效，但必须避免用 test 选策略。</a:t>
            </a:r>
            <a:endParaRPr lang="zh-CN" sz="1700"/>
          </a:p>
          <a:p>
            <a:pPr algn="l">
              <a:spcAft>
                <a:spcPts val="60"/>
              </a:spcAft>
            </a:pPr>
            <a:r>
              <a:rPr lang="zh-CN" sz="17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第三，log 目标和简单 Z 分段没有带来稳定主指标收益。</a:t>
            </a:r>
            <a:endParaRPr lang="zh-CN" sz="1700"/>
          </a:p>
          <a:p>
            <a:pPr algn="l">
              <a:spcAft>
                <a:spcPts val="60"/>
              </a:spcAft>
            </a:pPr>
            <a:r>
              <a:rPr lang="zh-CN" sz="17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第四，第五次 15.26% 是 test 参与选择后的乐观结果，严格复核后为 19.95%。</a:t>
            </a:r>
            <a:endParaRPr lang="zh-CN" sz="1700"/>
          </a:p>
          <a:p>
            <a:pPr algn="l">
              <a:spcAft>
                <a:spcPts val="60"/>
              </a:spcAft>
            </a:pPr>
            <a:r>
              <a:rPr lang="zh-CN" sz="17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第五，后续任何优化必须先严格复核，才能正式写入结果。</a:t>
            </a:r>
            <a:endParaRPr lang="zh-CN" sz="1700"/>
          </a:p>
        </p:txBody>
      </p:sp>
      <p:sp>
        <p:nvSpPr>
          <p:cNvPr id="4" name="文本框 4"/>
          <p:cNvSpPr txBox="1"/>
          <p:nvPr/>
        </p:nvSpPr>
        <p:spPr>
          <a:xfrm>
            <a:off x="685800" y="5486400"/>
            <a:ext cx="10698480" cy="502920"/>
          </a:xfrm>
          <a:prstGeom prst="rect">
            <a:avLst/>
          </a:prstGeom>
          <a:solidFill>
            <a:srgbClr val="FCE4D6"/>
          </a:solidFill>
          <a:ln>
            <a:solidFill>
              <a:srgbClr val="F4B183"/>
            </a:solidFill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最重要的一句话：之前的尝试有探索价值，但目前没有证明可靠泛化提升。</a:t>
            </a:r>
            <a:endParaRPr lang="zh-CN" sz="13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/>
          <p:nvPr/>
        </p:nvSpPr>
        <p:spPr>
          <a:xfrm>
            <a:off x="320040" y="146304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27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后续工作建议</a:t>
            </a:r>
            <a:endParaRPr lang="zh-CN" sz="2700"/>
          </a:p>
        </p:txBody>
      </p:sp>
      <p:sp>
        <p:nvSpPr>
          <p:cNvPr id="3" name="文本框 3"/>
          <p:cNvSpPr txBox="1"/>
          <p:nvPr/>
        </p:nvSpPr>
        <p:spPr>
          <a:xfrm>
            <a:off x="502920" y="960120"/>
            <a:ext cx="3931920" cy="5120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继续优化时，先按严格口径设计候选方案，而不是先追快速 test 指标。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可以小幅扩充 MAPE loss 成员池，但每个候选都要有 validation 选择和最终 test 一次评估。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暂缓扩大 log 目标和复杂分段权重，除非严格复核暴露出明确误差模式。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文档规范：未完成严格复核的结果必须标注“试验参考”，不能进入正式最佳表。</a:t>
            </a:r>
            <a:endParaRPr lang="zh-CN" sz="1450"/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4572000" y="987552"/>
          <a:ext cx="71323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1756"/>
                <a:gridCol w="2424988"/>
                <a:gridCol w="2995574"/>
              </a:tblGrid>
              <a:tr h="877824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下一步</a:t>
                      </a:r>
                      <a:endParaRPr lang="zh-CN" sz="98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目的</a:t>
                      </a:r>
                      <a:endParaRPr lang="zh-CN" sz="98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产出要求</a:t>
                      </a:r>
                      <a:endParaRPr lang="zh-CN" sz="98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877824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8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严格候选方案设计</a:t>
                      </a:r>
                      <a:endParaRPr lang="zh-CN" sz="98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8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避免 test 泄漏</a:t>
                      </a:r>
                      <a:endParaRPr lang="zh-CN" sz="98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8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明确 train/validation/test 口径</a:t>
                      </a:r>
                      <a:endParaRPr lang="zh-CN" sz="98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877824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8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小幅成员池扩充</a:t>
                      </a:r>
                      <a:endParaRPr lang="zh-CN" sz="98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8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验证多样性是否仍有价值</a:t>
                      </a:r>
                      <a:endParaRPr lang="zh-CN" sz="98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8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 validation 选择，再 test 一次评估</a:t>
                      </a:r>
                      <a:endParaRPr lang="zh-CN" sz="98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877824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8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误差诊断</a:t>
                      </a:r>
                      <a:endParaRPr lang="zh-CN" sz="98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8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找出退化来源</a:t>
                      </a:r>
                      <a:endParaRPr lang="zh-CN" sz="98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8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按折、按 Z 区间、按压力区间分析</a:t>
                      </a:r>
                      <a:endParaRPr lang="zh-CN" sz="98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877824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8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文档更新</a:t>
                      </a:r>
                      <a:endParaRPr lang="zh-CN" sz="98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8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保证汇报口径一致</a:t>
                      </a:r>
                      <a:endParaRPr lang="zh-CN" sz="98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98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试验参考和正式复核分表登记</a:t>
                      </a:r>
                      <a:endParaRPr lang="zh-CN" sz="98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/>
          <p:nvPr/>
        </p:nvSpPr>
        <p:spPr>
          <a:xfrm>
            <a:off x="320040" y="146304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27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关键产物与复现命令</a:t>
            </a:r>
            <a:endParaRPr lang="zh-CN" sz="2700"/>
          </a:p>
        </p:txBody>
      </p:sp>
      <p:sp>
        <p:nvSpPr>
          <p:cNvPr id="3" name="文本框 3"/>
          <p:cNvSpPr txBox="1"/>
          <p:nvPr/>
        </p:nvSpPr>
        <p:spPr>
          <a:xfrm>
            <a:off x="502920" y="960120"/>
            <a:ext cx="3931920" cy="5120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快速第五轮：ensemble_outputs/mape_diverse_reuse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严格复核：ensemble_outputs/mape_diverse_reuse_strict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严格复核对比：comparison_summary.csv</a:t>
            </a:r>
            <a:endParaRPr lang="zh-CN" sz="1450"/>
          </a:p>
          <a:p>
            <a:pPr algn="l">
              <a:spcAft>
                <a:spcPts val="60"/>
              </a:spcAft>
            </a:pPr>
            <a:r>
              <a:rPr lang="zh-CN" sz="145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单元测试：python -m unittest discover -s tests</a:t>
            </a:r>
            <a:endParaRPr lang="zh-CN" sz="1450"/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4572000" y="987552"/>
          <a:ext cx="71323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5349240"/>
              </a:tblGrid>
              <a:tr h="109728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</a:t>
                      </a:r>
                      <a:endParaRPr lang="zh-CN" sz="80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命令</a:t>
                      </a:r>
                      <a:endParaRPr lang="zh-CN" sz="800"/>
                    </a:p>
                  </a:txBody>
                  <a:tcPr marL="45720" marR="45720" marT="22860" marB="22860">
                    <a:solidFill>
                      <a:srgbClr val="2F5597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109728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评估第五轮快速参考</a:t>
                      </a:r>
                      <a:endParaRPr lang="zh-CN" sz="80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 evaluate_metrics.py --pred-base-dir ensemble_outputs/mape_diverse_reuse/predictions/softmax_top3_t2</a:t>
                      </a:r>
                      <a:endParaRPr lang="zh-CN" sz="80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109728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复现第五轮严格复核</a:t>
                      </a:r>
                      <a:endParaRPr lang="zh-CN" sz="80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 mape_diverse_reuse.py --output-folder ensemble_outputs/mape_diverse_reuse_strict --num-runs 5 --epochs 400 --validation-fraction 0.2 --validation-seed 20260609</a:t>
                      </a:r>
                      <a:endParaRPr lang="zh-CN" sz="80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  <a:tr h="1097280"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严格复核 reuse-only</a:t>
                      </a:r>
                      <a:endParaRPr lang="zh-CN" sz="80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lang="zh-CN" sz="8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 mape_diverse_reuse.py --output-folder ensemble_outputs/mape_diverse_reuse_strict --num-runs 5 --epochs 400 --validation-fraction 0.2 --validation-seed 20260609 --reuse-only</a:t>
                      </a:r>
                      <a:endParaRPr lang="zh-CN" sz="80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6350">
                      <a:solidFill>
                        <a:srgbClr val="D9E2F3"/>
                      </a:solidFill>
                    </a:lnL>
                    <a:lnR w="6350">
                      <a:solidFill>
                        <a:srgbClr val="D9E2F3"/>
                      </a:solidFill>
                    </a:lnR>
                    <a:lnT w="6350">
                      <a:solidFill>
                        <a:srgbClr val="D9E2F3"/>
                      </a:solidFill>
                    </a:lnT>
                    <a:lnB w="6350">
                      <a:solidFill>
                        <a:srgbClr val="D9E2F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fcad760e7e68dd37d5f57a77de8b3f46a4cafb4"/>
  <p:tag name="KSO_WM_NEWLAYOUT_GROUP_ID" val="layout_6"/>
  <p:tag name="KSO_WM_NEWLAYOUT_ID" val="slide_2ad8094139643a7a"/>
</p:tagLst>
</file>

<file path=ppt/tags/tag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.xml><?xml version="1.0" encoding="utf-8"?>
<p:tagLst xmlns:p="http://schemas.openxmlformats.org/presentationml/2006/main">
  <p:tag name="KSO_WM_DIAGRAM_VIRTUALLY_FRAME" val="{&quot;height&quot;:309.90000000000003,&quot;left&quot;:88.5,&quot;top&quot;:132.79881889763777,&quot;width&quot;:328.11496062992126}"/>
</p:tagLst>
</file>

<file path=ppt/tags/tag10.xml><?xml version="1.0" encoding="utf-8"?>
<p:tagLst xmlns:p="http://schemas.openxmlformats.org/presentationml/2006/main">
  <p:tag name="KSO_WM_DIAGRAM_VIRTUALLY_FRAME" val="{&quot;height&quot;:309.90000000000003,&quot;left&quot;:88.5,&quot;top&quot;:132.79881889763777,&quot;width&quot;:328.11496062992126}"/>
</p:tagLst>
</file>

<file path=ppt/tags/tag11.xml><?xml version="1.0" encoding="utf-8"?>
<p:tagLst xmlns:p="http://schemas.openxmlformats.org/presentationml/2006/main">
  <p:tag name="KSO_WM_DIAGRAM_VIRTUALLY_FRAME" val="{&quot;height&quot;:309.90000000000003,&quot;left&quot;:88.5,&quot;top&quot;:132.79881889763777,&quot;width&quot;:328.11496062992126}"/>
</p:tagLst>
</file>

<file path=ppt/tags/tag12.xml><?xml version="1.0" encoding="utf-8"?>
<p:tagLst xmlns:p="http://schemas.openxmlformats.org/presentationml/2006/main">
  <p:tag name="KSO_WM_DIAGRAM_VIRTUALLY_FRAME" val="{&quot;height&quot;:309.90000000000003,&quot;left&quot;:88.5,&quot;top&quot;:132.79881889763777,&quot;width&quot;:328.11496062992126}"/>
</p:tagLst>
</file>

<file path=ppt/tags/tag13.xml><?xml version="1.0" encoding="utf-8"?>
<p:tagLst xmlns:p="http://schemas.openxmlformats.org/presentationml/2006/main">
  <p:tag name="KSO_WM_DIAGRAM_VIRTUALLY_FRAME" val="{&quot;height&quot;:309.90000000000003,&quot;left&quot;:88.5,&quot;top&quot;:132.79881889763777,&quot;width&quot;:328.11496062992126}"/>
</p:tagLst>
</file>

<file path=ppt/tags/tag14.xml><?xml version="1.0" encoding="utf-8"?>
<p:tagLst xmlns:p="http://schemas.openxmlformats.org/presentationml/2006/main">
  <p:tag name="KSO_WM_DIAGRAM_VIRTUALLY_FRAME" val="{&quot;height&quot;:309.90000000000003,&quot;left&quot;:88.5,&quot;top&quot;:132.79881889763777,&quot;width&quot;:328.11496062992126}"/>
</p:tagLst>
</file>

<file path=ppt/tags/tag15.xml><?xml version="1.0" encoding="utf-8"?>
<p:tagLst xmlns:p="http://schemas.openxmlformats.org/presentationml/2006/main">
  <p:tag name="KSO_WM_DIAGRAM_VIRTUALLY_FRAME" val="{&quot;height&quot;:309.90000000000003,&quot;left&quot;:88.5,&quot;top&quot;:132.79881889763777,&quot;width&quot;:328.11496062992126}"/>
</p:tagLst>
</file>

<file path=ppt/tags/tag16.xml><?xml version="1.0" encoding="utf-8"?>
<p:tagLst xmlns:p="http://schemas.openxmlformats.org/presentationml/2006/main">
  <p:tag name="KSO_WM_DIAGRAM_VIRTUALLY_FRAME" val="{&quot;height&quot;:309.90000000000003,&quot;left&quot;:88.5,&quot;top&quot;:132.79881889763777,&quot;width&quot;:328.11496062992126}"/>
</p:tagLst>
</file>

<file path=ppt/tags/tag17.xml><?xml version="1.0" encoding="utf-8"?>
<p:tagLst xmlns:p="http://schemas.openxmlformats.org/presentationml/2006/main">
  <p:tag name="COMMONDATA" val="eyJoZGlkIjoiZTgzMjQ1MGZjOTJjZTlmMGNmMGFiMjFkNzg5ZjJhYzIifQ=="/>
</p:tagLst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014924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TimeNewRoman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873</Words>
  <Application>WPS 演示</Application>
  <PresentationFormat>宽屏</PresentationFormat>
  <Paragraphs>147</Paragraphs>
  <Slides>18</Slides>
  <Notes>3</Notes>
  <HiddenSlides>18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Office 主题</vt:lpstr>
      <vt:lpstr>PowerPoint 演示文稿</vt:lpstr>
      <vt:lpstr>目录</vt:lpstr>
      <vt:lpstr>PowerPoint 演示文稿</vt:lpstr>
      <vt:lpstr>1. 复现进度</vt:lpstr>
      <vt:lpstr>1. 复现进度</vt:lpstr>
      <vt:lpstr>1. 复现进度</vt:lpstr>
      <vt:lpstr>1. 复现进度</vt:lpstr>
      <vt:lpstr>1. 复现进度</vt:lpstr>
      <vt:lpstr>1. 复现进度</vt:lpstr>
      <vt:lpstr>1. 复现进度</vt:lpstr>
      <vt:lpstr>1. 复现进度</vt:lpstr>
      <vt:lpstr>1. 复现进度</vt:lpstr>
      <vt:lpstr>PowerPoint 演示文稿</vt:lpstr>
      <vt:lpstr>2. 方法对比</vt:lpstr>
      <vt:lpstr>2. 方法对比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huang peiji</dc:creator>
  <cp:lastModifiedBy>小一</cp:lastModifiedBy>
  <cp:revision>40</cp:revision>
  <dcterms:created xsi:type="dcterms:W3CDTF">2024-09-01T09:05:00Z</dcterms:created>
  <dcterms:modified xsi:type="dcterms:W3CDTF">2026-06-09T17:44:54Z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15942D32088B47A4A27A40AE71506297_13</vt:lpwstr>
  </property>
  <property fmtid="{D5CDD505-2E9C-101B-9397-08002B2CF9AE}" pid="3" name="KSOProductBuildVer">
    <vt:lpwstr>2052-12.1.0.26895</vt:lpwstr>
  </property>
</Properties>
</file>