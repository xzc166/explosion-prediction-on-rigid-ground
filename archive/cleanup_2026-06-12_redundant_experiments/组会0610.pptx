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839" r:id="rId3"/>
    <p:sldId id="864" r:id="rId5"/>
    <p:sldId id="848" r:id="rId6"/>
    <p:sldId id="847" r:id="rId7"/>
    <p:sldId id="871" r:id="rId8"/>
    <p:sldId id="867" r:id="rId9"/>
    <p:sldId id="872" r:id="rId10"/>
    <p:sldId id="856" r:id="rId11"/>
    <p:sldId id="868" r:id="rId12"/>
    <p:sldId id="873" r:id="rId13"/>
    <p:sldId id="865" r:id="rId14"/>
    <p:sldId id="869" r:id="rId15"/>
    <p:sldId id="870" r:id="rId16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ike" initials="y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5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gs" Target="tags/tag12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787DDD-C893-4D07-8DB7-5A0DFEE2A7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072249-B491-440F-AE6D-D3A5C501C68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3D985-DC53-4386-B262-85287026AD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3D985-DC53-4386-B262-85287026AD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3D985-DC53-4386-B262-85287026AD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3D985-DC53-4386-B262-85287026AD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448800" y="6574971"/>
            <a:ext cx="2743200" cy="283029"/>
          </a:xfrm>
          <a:prstGeom prst="rect">
            <a:avLst/>
          </a:prstGeom>
        </p:spPr>
        <p:txBody>
          <a:bodyPr/>
          <a:lstStyle>
            <a:lvl1pPr algn="r">
              <a:defRPr sz="1400" b="1" i="0" baseline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0"/>
            <a:ext cx="12192000" cy="8811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7975" y="231253"/>
            <a:ext cx="10515600" cy="5991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2" name="矩形 11"/>
          <p:cNvSpPr/>
          <p:nvPr userDrawn="1"/>
        </p:nvSpPr>
        <p:spPr>
          <a:xfrm>
            <a:off x="0" y="6580909"/>
            <a:ext cx="12192000" cy="2715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55"/>
          <a:stretch>
            <a:fillRect/>
          </a:stretch>
        </p:blipFill>
        <p:spPr>
          <a:xfrm>
            <a:off x="9745446" y="26281"/>
            <a:ext cx="2328125" cy="854865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542828"/>
            <a:ext cx="2743200" cy="365125"/>
          </a:xfrm>
          <a:prstGeom prst="rect">
            <a:avLst/>
          </a:prstGeom>
        </p:spPr>
        <p:txBody>
          <a:bodyPr/>
          <a:lstStyle>
            <a:lvl1pPr algn="r" fontAlgn="ctr">
              <a:defRPr sz="1400" b="1" i="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448800" y="6574971"/>
            <a:ext cx="2743200" cy="283029"/>
          </a:xfrm>
          <a:prstGeom prst="rect">
            <a:avLst/>
          </a:prstGeom>
        </p:spPr>
        <p:txBody>
          <a:bodyPr/>
          <a:lstStyle>
            <a:lvl1pPr algn="r">
              <a:defRPr sz="1400" b="1" i="0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609600" y="2794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2794000"/>
            <a:ext cx="3276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3302000"/>
            <a:ext cx="3276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096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762000" y="4826000"/>
            <a:ext cx="3276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62000" y="5334000"/>
            <a:ext cx="3276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jpe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jpe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jpe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jpe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23" r="14726" b="48018"/>
          <a:stretch>
            <a:fillRect/>
          </a:stretch>
        </p:blipFill>
        <p:spPr>
          <a:xfrm>
            <a:off x="15050" y="5223309"/>
            <a:ext cx="5870824" cy="1634689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0" y="5223310"/>
            <a:ext cx="12192000" cy="1634689"/>
          </a:xfrm>
          <a:prstGeom prst="rect">
            <a:avLst/>
          </a:prstGeom>
          <a:gradFill flip="none" rotWithShape="1">
            <a:gsLst>
              <a:gs pos="0">
                <a:srgbClr val="014924"/>
              </a:gs>
              <a:gs pos="51000">
                <a:srgbClr val="014924"/>
              </a:gs>
              <a:gs pos="80000">
                <a:srgbClr val="014924">
                  <a:alpha val="80000"/>
                </a:srgbClr>
              </a:gs>
              <a:gs pos="100000">
                <a:srgbClr val="014924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dirty="0">
                <a:latin typeface="+mn-ea"/>
              </a:rPr>
              <a:t>中山大学</a:t>
            </a:r>
            <a:endParaRPr lang="en-US" altLang="zh-CN" dirty="0">
              <a:latin typeface="+mn-ea"/>
            </a:endParaRPr>
          </a:p>
          <a:p>
            <a:pPr algn="r"/>
            <a:r>
              <a:rPr lang="zh-CN" altLang="en-US" dirty="0">
                <a:latin typeface="+mn-ea"/>
              </a:rPr>
              <a:t>智能工程学院</a:t>
            </a:r>
            <a:endParaRPr lang="en-US" altLang="zh-CN" dirty="0">
              <a:latin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0" y="5053673"/>
            <a:ext cx="12192000" cy="77108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39272" y="2323045"/>
            <a:ext cx="11546540" cy="7683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4400" b="1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集成方法MAPE优化初测</a:t>
            </a:r>
            <a:endParaRPr lang="zh-CN" altLang="en-US" sz="4400" b="1" dirty="0">
              <a:solidFill>
                <a:srgbClr val="01492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2" name="组合 11"/>
          <p:cNvGrpSpPr/>
          <p:nvPr/>
        </p:nvGrpSpPr>
        <p:grpSpPr>
          <a:xfrm>
            <a:off x="5234941" y="0"/>
            <a:ext cx="1722119" cy="1882066"/>
            <a:chOff x="4705866" y="0"/>
            <a:chExt cx="2780268" cy="3063728"/>
          </a:xfrm>
        </p:grpSpPr>
        <p:grpSp>
          <p:nvGrpSpPr>
            <p:cNvPr id="13" name="组合 12"/>
            <p:cNvGrpSpPr/>
            <p:nvPr/>
          </p:nvGrpSpPr>
          <p:grpSpPr>
            <a:xfrm>
              <a:off x="4705866" y="0"/>
              <a:ext cx="2780268" cy="3063728"/>
              <a:chOff x="4705866" y="0"/>
              <a:chExt cx="2780268" cy="3063728"/>
            </a:xfrm>
          </p:grpSpPr>
          <p:sp>
            <p:nvSpPr>
              <p:cNvPr id="18" name="任意多边形 27"/>
              <p:cNvSpPr/>
              <p:nvPr/>
            </p:nvSpPr>
            <p:spPr>
              <a:xfrm>
                <a:off x="4705866" y="0"/>
                <a:ext cx="2780268" cy="3063728"/>
              </a:xfrm>
              <a:custGeom>
                <a:avLst/>
                <a:gdLst>
                  <a:gd name="connsiteX0" fmla="*/ 0 w 2780268"/>
                  <a:gd name="connsiteY0" fmla="*/ 0 h 3063728"/>
                  <a:gd name="connsiteX1" fmla="*/ 2780268 w 2780268"/>
                  <a:gd name="connsiteY1" fmla="*/ 0 h 3063728"/>
                  <a:gd name="connsiteX2" fmla="*/ 2780268 w 2780268"/>
                  <a:gd name="connsiteY2" fmla="*/ 1673594 h 3063728"/>
                  <a:gd name="connsiteX3" fmla="*/ 1390134 w 2780268"/>
                  <a:gd name="connsiteY3" fmla="*/ 3063728 h 3063728"/>
                  <a:gd name="connsiteX4" fmla="*/ 0 w 2780268"/>
                  <a:gd name="connsiteY4" fmla="*/ 1673594 h 306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80268" h="3063728">
                    <a:moveTo>
                      <a:pt x="0" y="0"/>
                    </a:moveTo>
                    <a:lnTo>
                      <a:pt x="2780268" y="0"/>
                    </a:lnTo>
                    <a:lnTo>
                      <a:pt x="2780268" y="1673594"/>
                    </a:lnTo>
                    <a:cubicBezTo>
                      <a:pt x="2780268" y="2441344"/>
                      <a:pt x="2157884" y="3063728"/>
                      <a:pt x="1390134" y="3063728"/>
                    </a:cubicBezTo>
                    <a:cubicBezTo>
                      <a:pt x="622384" y="3063728"/>
                      <a:pt x="0" y="2441344"/>
                      <a:pt x="0" y="1673594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grpSp>
            <p:nvGrpSpPr>
              <p:cNvPr id="19" name="组合 18"/>
              <p:cNvGrpSpPr/>
              <p:nvPr/>
            </p:nvGrpSpPr>
            <p:grpSpPr>
              <a:xfrm>
                <a:off x="4875891" y="408799"/>
                <a:ext cx="2439190" cy="2439192"/>
                <a:chOff x="5007734" y="902247"/>
                <a:chExt cx="2543685" cy="2543686"/>
              </a:xfrm>
            </p:grpSpPr>
            <p:sp>
              <p:nvSpPr>
                <p:cNvPr id="20" name="椭圆 19"/>
                <p:cNvSpPr/>
                <p:nvPr/>
              </p:nvSpPr>
              <p:spPr>
                <a:xfrm>
                  <a:off x="5007734" y="902247"/>
                  <a:ext cx="2543685" cy="254368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E8E8E8"/>
                    </a:gs>
                  </a:gsLst>
                  <a:lin ang="5400000" scaled="1"/>
                  <a:tileRect/>
                </a:gradFill>
                <a:ln>
                  <a:noFill/>
                </a:ln>
                <a:effectLst>
                  <a:outerShdw blurRad="139700" dist="38100" dir="5400000" algn="t" rotWithShape="0">
                    <a:prstClr val="black">
                      <a:alpha val="1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sp>
              <p:nvSpPr>
                <p:cNvPr id="21" name="椭圆 20"/>
                <p:cNvSpPr/>
                <p:nvPr/>
              </p:nvSpPr>
              <p:spPr>
                <a:xfrm rot="10800000">
                  <a:off x="5160137" y="1054647"/>
                  <a:ext cx="2213120" cy="22131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E8E8E8"/>
                    </a:gs>
                  </a:gsLst>
                  <a:lin ang="5400000" scaled="1"/>
                  <a:tileRect/>
                </a:gradFill>
                <a:ln>
                  <a:noFill/>
                </a:ln>
                <a:effectLst>
                  <a:innerShdw blurRad="88900">
                    <a:prstClr val="black">
                      <a:alpha val="16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</p:grpSp>
        </p:grp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0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14939" y="650634"/>
              <a:ext cx="1936392" cy="1930811"/>
            </a:xfrm>
            <a:prstGeom prst="rect">
              <a:avLst/>
            </a:prstGeom>
          </p:spPr>
        </p:pic>
      </p:grpSp>
      <p:sp>
        <p:nvSpPr>
          <p:cNvPr id="2" name="文本框 1"/>
          <p:cNvSpPr txBox="1"/>
          <p:nvPr/>
        </p:nvSpPr>
        <p:spPr>
          <a:xfrm>
            <a:off x="4819015" y="3664585"/>
            <a:ext cx="27870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汇报人：</a:t>
            </a:r>
            <a:r>
              <a:rPr lang="en-US" altLang="zh-CN" sz="2000"/>
              <a:t> </a:t>
            </a:r>
            <a:r>
              <a:rPr lang="zh-CN" altLang="en-US" sz="2000"/>
              <a:t>徐子程</a:t>
            </a:r>
            <a:endParaRPr lang="zh-CN" alt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87975" y="158228"/>
            <a:ext cx="10515600" cy="599151"/>
          </a:xfrm>
        </p:spPr>
        <p:txBody>
          <a:bodyPr>
            <a:noAutofit/>
          </a:bodyPr>
          <a:lstStyle/>
          <a:p>
            <a:r>
              <a:rPr lang="zh-CN"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基线阶段</a:t>
            </a:r>
            <a:endParaRPr lang="zh-CN" altLang="en-US" sz="4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02920" y="1722755"/>
            <a:ext cx="3931920" cy="25685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200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模型：MLP 主结构不变，输入扩展为 10 维物理特征。</a:t>
            </a:r>
            <a:endParaRPr lang="zh-CN" sz="2000"/>
          </a:p>
          <a:p>
            <a:pPr algn="l">
              <a:spcAft>
                <a:spcPts val="60"/>
              </a:spcAft>
            </a:pPr>
            <a:r>
              <a:rPr lang="zh-CN" sz="200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关键设置：SiLU 激活、Softplus 输出正压力、MAPE loss、400 epoch。</a:t>
            </a:r>
            <a:endParaRPr lang="zh-CN" sz="2000"/>
          </a:p>
          <a:p>
            <a:pPr algn="l">
              <a:spcAft>
                <a:spcPts val="60"/>
              </a:spcAft>
            </a:pPr>
            <a:r>
              <a:rPr lang="zh-CN" sz="200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观察：整体能控制在 20% 以下，但远场和低超压点容易放大 MAPE。</a:t>
            </a:r>
            <a:endParaRPr lang="zh-CN" sz="2000"/>
          </a:p>
        </p:txBody>
      </p:sp>
      <p:graphicFrame>
        <p:nvGraphicFramePr>
          <p:cNvPr id="6" name="表格 4"/>
          <p:cNvGraphicFramePr>
            <a:graphicFrameLocks noGrp="1"/>
          </p:cNvGraphicFramePr>
          <p:nvPr/>
        </p:nvGraphicFramePr>
        <p:xfrm>
          <a:off x="4572000" y="1477137"/>
          <a:ext cx="7132320" cy="3289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342"/>
                <a:gridCol w="1283817"/>
                <a:gridCol w="1141171"/>
                <a:gridCol w="2424988"/>
              </a:tblGrid>
              <a:tr h="1095375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方法</a:t>
                      </a:r>
                      <a:endParaRPr lang="zh-CN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Test MAPE</a:t>
                      </a:r>
                      <a:endParaRPr lang="zh-CN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Test R2</a:t>
                      </a:r>
                      <a:endParaRPr lang="zh-CN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解释</a:t>
                      </a:r>
                      <a:endParaRPr lang="zh-CN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219456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原始 case-wise MLP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17.23%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0.7838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作为后续所有集成和训练目标优化的参照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39" b="12068"/>
          <a:stretch>
            <a:fillRect/>
          </a:stretch>
        </p:blipFill>
        <p:spPr>
          <a:xfrm>
            <a:off x="83128" y="167501"/>
            <a:ext cx="3953164" cy="11453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8" r="14726" b="48018"/>
          <a:stretch>
            <a:fillRect/>
          </a:stretch>
        </p:blipFill>
        <p:spPr>
          <a:xfrm>
            <a:off x="6321176" y="2355164"/>
            <a:ext cx="5870824" cy="1542449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857500" y="2354564"/>
            <a:ext cx="9334500" cy="1543049"/>
          </a:xfrm>
          <a:prstGeom prst="rect">
            <a:avLst/>
          </a:prstGeom>
          <a:gradFill flip="none" rotWithShape="1">
            <a:gsLst>
              <a:gs pos="35000">
                <a:srgbClr val="014924"/>
              </a:gs>
              <a:gs pos="0">
                <a:srgbClr val="014924"/>
              </a:gs>
              <a:gs pos="59000">
                <a:srgbClr val="014924">
                  <a:alpha val="95000"/>
                </a:srgbClr>
              </a:gs>
              <a:gs pos="77000">
                <a:srgbClr val="014924">
                  <a:alpha val="70000"/>
                </a:srgbClr>
              </a:gs>
              <a:gs pos="100000">
                <a:srgbClr val="014924">
                  <a:alpha val="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1123950" y="2354565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3" name="矩形 12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3054350" y="2710815"/>
            <a:ext cx="6308090" cy="70548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Dropout p 网格等权集成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448800" y="6317519"/>
            <a:ext cx="2743200" cy="283029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69" name="标题 1"/>
          <p:cNvSpPr>
            <a:spLocks noGrp="1"/>
          </p:cNvSpPr>
          <p:nvPr>
            <p:ph type="title"/>
          </p:nvPr>
        </p:nvSpPr>
        <p:spPr>
          <a:xfrm>
            <a:off x="287975" y="136638"/>
            <a:ext cx="10515600" cy="599151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Dropout p 网格等权集成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3"/>
          <p:cNvSpPr txBox="1"/>
          <p:nvPr/>
        </p:nvSpPr>
        <p:spPr>
          <a:xfrm>
            <a:off x="502920" y="960120"/>
            <a:ext cx="3931920" cy="5215255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algn="l">
              <a:spcAft>
                <a:spcPts val="60"/>
              </a:spcAft>
            </a:pPr>
            <a:r>
              <a:rPr lang="en-US" altLang="zh-CN" sz="2000"/>
              <a:t>Dropout p </a:t>
            </a:r>
            <a:r>
              <a:rPr lang="zh-CN" altLang="en-US" sz="2000"/>
              <a:t>等权集成可以拆成两部分理解：</a:t>
            </a:r>
            <a:r>
              <a:rPr lang="en-US" altLang="zh-CN" sz="2000"/>
              <a:t>Dropout p </a:t>
            </a:r>
            <a:r>
              <a:rPr lang="zh-CN" altLang="en-US" sz="2000"/>
              <a:t>是训练单个神经网络时的随机失活比例，等权集成 是把多个模型的预测结果简单平均。</a:t>
            </a:r>
            <a:endParaRPr lang="zh-CN" altLang="en-US" sz="2000"/>
          </a:p>
          <a:p>
            <a:pPr algn="l">
              <a:spcAft>
                <a:spcPts val="60"/>
              </a:spcAft>
            </a:pPr>
            <a:r>
              <a:rPr lang="en-US" altLang="zh-CN" sz="2000"/>
              <a:t>p </a:t>
            </a:r>
            <a:r>
              <a:rPr lang="zh-CN" altLang="en-US" sz="2000"/>
              <a:t>代表 </a:t>
            </a:r>
            <a:r>
              <a:rPr lang="en-US" altLang="zh-CN" sz="2000"/>
              <a:t>dropout probability，</a:t>
            </a:r>
            <a:r>
              <a:rPr lang="zh-CN" altLang="en-US" sz="2000"/>
              <a:t>也就是每次训练前向传播时，某些神经元输出被随机置零的概率。</a:t>
            </a:r>
            <a:endParaRPr lang="zh-CN" altLang="en-US" sz="2000"/>
          </a:p>
          <a:p>
            <a:pPr algn="l">
              <a:spcAft>
                <a:spcPts val="60"/>
              </a:spcAft>
            </a:pPr>
            <a:r>
              <a:rPr lang="zh-CN" altLang="en-US" sz="2000"/>
              <a:t>最终预测 = (模型1预测 + 模型2预测 + ... + 模型</a:t>
            </a:r>
            <a:r>
              <a:rPr lang="en-US" altLang="zh-CN" sz="2000"/>
              <a:t>K</a:t>
            </a:r>
            <a:r>
              <a:rPr lang="zh-CN" altLang="en-US" sz="2000"/>
              <a:t>预测) / </a:t>
            </a:r>
            <a:r>
              <a:rPr lang="en-US" altLang="zh-CN" sz="2000"/>
              <a:t>K</a:t>
            </a:r>
            <a:endParaRPr lang="en-US" altLang="zh-CN" sz="2000"/>
          </a:p>
          <a:p>
            <a:pPr algn="l">
              <a:spcAft>
                <a:spcPts val="60"/>
              </a:spcAft>
            </a:pPr>
            <a:r>
              <a:rPr lang="zh-CN" altLang="en-US" sz="2000"/>
              <a:t>有明显缺点：弱模型和强模型权重一样。如果某个 </a:t>
            </a:r>
            <a:r>
              <a:rPr lang="en-US" altLang="zh-CN" sz="2000"/>
              <a:t>p=0.5 </a:t>
            </a:r>
            <a:r>
              <a:rPr lang="zh-CN" altLang="en-US" sz="2000"/>
              <a:t>的模型表现较差，它仍然会被平均进去，可能拖累最终结果。</a:t>
            </a:r>
            <a:endParaRPr lang="zh-CN" altLang="en-US" sz="2000"/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4572000" y="987552"/>
          <a:ext cx="713232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4403"/>
                <a:gridCol w="1141171"/>
                <a:gridCol w="1212494"/>
                <a:gridCol w="1141171"/>
                <a:gridCol w="1783080"/>
              </a:tblGrid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方法</a:t>
                      </a:r>
                      <a:endParaRPr lang="zh-CN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成员数</a:t>
                      </a:r>
                      <a:endParaRPr lang="zh-CN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Test MAPE</a:t>
                      </a:r>
                      <a:endParaRPr lang="zh-CN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Test R2</a:t>
                      </a:r>
                      <a:endParaRPr lang="zh-CN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结论</a:t>
                      </a:r>
                      <a:endParaRPr lang="zh-CN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146304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基线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17.23%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0.7838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基础模型可用但仍有波动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6304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Dropout p 等权集成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5/折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16.85%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0.7905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MAPE 小幅下降，说明集成有价值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39" b="12068"/>
          <a:stretch>
            <a:fillRect/>
          </a:stretch>
        </p:blipFill>
        <p:spPr>
          <a:xfrm>
            <a:off x="83128" y="167501"/>
            <a:ext cx="3953164" cy="11453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8" r="14726" b="48018"/>
          <a:stretch>
            <a:fillRect/>
          </a:stretch>
        </p:blipFill>
        <p:spPr>
          <a:xfrm>
            <a:off x="6321176" y="2355164"/>
            <a:ext cx="5870824" cy="1542449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857500" y="2354564"/>
            <a:ext cx="9334500" cy="1543049"/>
          </a:xfrm>
          <a:prstGeom prst="rect">
            <a:avLst/>
          </a:prstGeom>
          <a:gradFill flip="none" rotWithShape="1">
            <a:gsLst>
              <a:gs pos="35000">
                <a:srgbClr val="014924"/>
              </a:gs>
              <a:gs pos="0">
                <a:srgbClr val="014924"/>
              </a:gs>
              <a:gs pos="59000">
                <a:srgbClr val="014924">
                  <a:alpha val="95000"/>
                </a:srgbClr>
              </a:gs>
              <a:gs pos="77000">
                <a:srgbClr val="014924">
                  <a:alpha val="70000"/>
                </a:srgbClr>
              </a:gs>
              <a:gs pos="100000">
                <a:srgbClr val="014924">
                  <a:alpha val="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1123950" y="2354565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3" name="矩形 12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407285" y="2903577"/>
              <a:ext cx="976380" cy="110680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3054350" y="2710815"/>
            <a:ext cx="8815070" cy="70548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复用成员做 Top-K / Softmax 加权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448800" y="6317519"/>
            <a:ext cx="2743200" cy="283029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69" name="标题 1"/>
          <p:cNvSpPr>
            <a:spLocks noGrp="1"/>
          </p:cNvSpPr>
          <p:nvPr>
            <p:ph type="title"/>
          </p:nvPr>
        </p:nvSpPr>
        <p:spPr>
          <a:xfrm>
            <a:off x="287975" y="136638"/>
            <a:ext cx="10515600" cy="599151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复用成员做 Top-K / Softmax 加权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3"/>
          <p:cNvSpPr txBox="1"/>
          <p:nvPr/>
        </p:nvSpPr>
        <p:spPr>
          <a:xfrm>
            <a:off x="354965" y="960120"/>
            <a:ext cx="4079875" cy="4062730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algn="l">
              <a:spcAft>
                <a:spcPts val="60"/>
              </a:spcAft>
            </a:pPr>
            <a:r>
              <a:rPr lang="en-US" altLang="zh-CN" sz="2000"/>
              <a:t>dropout </a:t>
            </a:r>
            <a:r>
              <a:rPr lang="zh-CN" altLang="en-US" sz="2000"/>
              <a:t>成员 </a:t>
            </a:r>
            <a:r>
              <a:rPr lang="en-US" altLang="zh-CN" sz="2000"/>
              <a:t>softmax_top3_t2 </a:t>
            </a:r>
            <a:r>
              <a:rPr lang="zh-CN" altLang="en-US" sz="2000"/>
              <a:t>的意思是：</a:t>
            </a:r>
            <a:endParaRPr lang="zh-CN" altLang="en-US" sz="2000"/>
          </a:p>
          <a:p>
            <a:pPr algn="l">
              <a:spcAft>
                <a:spcPts val="60"/>
              </a:spcAft>
            </a:pPr>
            <a:r>
              <a:rPr lang="zh-CN" altLang="en-US" sz="2000"/>
              <a:t>先从多个 </a:t>
            </a:r>
            <a:r>
              <a:rPr lang="en-US" altLang="zh-CN" sz="2000"/>
              <a:t>dropout </a:t>
            </a:r>
            <a:r>
              <a:rPr lang="zh-CN" altLang="en-US" sz="2000"/>
              <a:t>成员模型里选出表现最好的 3 个，再用 </a:t>
            </a:r>
            <a:r>
              <a:rPr lang="en-US" altLang="zh-CN" sz="2000"/>
              <a:t>softmax </a:t>
            </a:r>
            <a:r>
              <a:rPr lang="zh-CN" altLang="en-US" sz="2000"/>
              <a:t>按表现分配权重，最后加权平均它们的预测。</a:t>
            </a:r>
            <a:endParaRPr lang="zh-CN" altLang="en-US" sz="2000"/>
          </a:p>
          <a:p>
            <a:pPr algn="l">
              <a:spcAft>
                <a:spcPts val="60"/>
              </a:spcAft>
            </a:pPr>
            <a:endParaRPr lang="en-US" altLang="zh-CN" sz="2000"/>
          </a:p>
          <a:p>
            <a:pPr algn="l">
              <a:spcAft>
                <a:spcPts val="60"/>
              </a:spcAft>
            </a:pPr>
            <a:r>
              <a:rPr lang="zh-CN" altLang="en-US" sz="2000"/>
              <a:t>不让所有 </a:t>
            </a:r>
            <a:r>
              <a:rPr lang="en-US" altLang="zh-CN" sz="2000"/>
              <a:t>dropout </a:t>
            </a:r>
            <a:r>
              <a:rPr lang="zh-CN" altLang="en-US" sz="2000"/>
              <a:t>成员平均，而是只用表现最好的 3 个，并且让 </a:t>
            </a:r>
            <a:r>
              <a:rPr lang="en-US" altLang="zh-CN" sz="2000"/>
              <a:t>MAPE </a:t>
            </a:r>
            <a:r>
              <a:rPr lang="zh-CN" altLang="en-US" sz="2000"/>
              <a:t>更低的成员获得更高权重。</a:t>
            </a:r>
            <a:endParaRPr lang="zh-CN" altLang="en-US" sz="2000"/>
          </a:p>
        </p:txBody>
      </p:sp>
      <p:graphicFrame>
        <p:nvGraphicFramePr>
          <p:cNvPr id="6" name="表格 4"/>
          <p:cNvGraphicFramePr>
            <a:graphicFrameLocks noGrp="1"/>
          </p:cNvGraphicFramePr>
          <p:nvPr/>
        </p:nvGraphicFramePr>
        <p:xfrm>
          <a:off x="4572000" y="987552"/>
          <a:ext cx="71323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988"/>
                <a:gridCol w="1569110"/>
                <a:gridCol w="1569110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策略</a:t>
                      </a:r>
                      <a:endParaRPr lang="zh-CN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Test MAPE</a:t>
                      </a:r>
                      <a:endParaRPr lang="zh-CN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Test R2</a:t>
                      </a:r>
                      <a:endParaRPr lang="zh-CN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equal_all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16.85%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0.7905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top2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15.88%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0.8246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inv_mape_top3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16.16%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0.8323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softmax_top3_t2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15.79%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0.8446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softmax_top3_t5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16.01%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0.8370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39" b="12068"/>
          <a:stretch>
            <a:fillRect/>
          </a:stretch>
        </p:blipFill>
        <p:spPr>
          <a:xfrm>
            <a:off x="83128" y="167501"/>
            <a:ext cx="3953164" cy="11453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8" r="14726" b="48018"/>
          <a:stretch>
            <a:fillRect/>
          </a:stretch>
        </p:blipFill>
        <p:spPr>
          <a:xfrm>
            <a:off x="6321176" y="2355164"/>
            <a:ext cx="5870824" cy="1542449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857500" y="2354564"/>
            <a:ext cx="9334500" cy="1543049"/>
          </a:xfrm>
          <a:prstGeom prst="rect">
            <a:avLst/>
          </a:prstGeom>
          <a:gradFill flip="none" rotWithShape="1">
            <a:gsLst>
              <a:gs pos="35000">
                <a:srgbClr val="014924"/>
              </a:gs>
              <a:gs pos="0">
                <a:srgbClr val="014924"/>
              </a:gs>
              <a:gs pos="59000">
                <a:srgbClr val="014924">
                  <a:alpha val="95000"/>
                </a:srgbClr>
              </a:gs>
              <a:gs pos="77000">
                <a:srgbClr val="014924">
                  <a:alpha val="70000"/>
                </a:srgbClr>
              </a:gs>
              <a:gs pos="100000">
                <a:srgbClr val="014924">
                  <a:alpha val="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1123950" y="2354565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3" name="矩形 12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407285" y="2903577"/>
              <a:ext cx="976380" cy="110680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3054350" y="2710815"/>
            <a:ext cx="6308090" cy="70548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MAPE 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专项训练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448800" y="6317519"/>
            <a:ext cx="2743200" cy="283029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5CE74E-AB26-4998-AD42-012C4C1AD076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9" name="标题 1"/>
          <p:cNvSpPr>
            <a:spLocks noGrp="1"/>
          </p:cNvSpPr>
          <p:nvPr>
            <p:ph type="title"/>
          </p:nvPr>
        </p:nvSpPr>
        <p:spPr>
          <a:xfrm>
            <a:off x="287975" y="136638"/>
            <a:ext cx="10515600" cy="599151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MAPE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专项训练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572000" y="987425"/>
          <a:ext cx="748982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815"/>
                <a:gridCol w="1322070"/>
                <a:gridCol w="1322070"/>
                <a:gridCol w="2642870"/>
              </a:tblGrid>
              <a:tr h="877824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配置/策略</a:t>
                      </a:r>
                      <a:endParaRPr lang="zh-CN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Test MAPE</a:t>
                      </a:r>
                      <a:endParaRPr lang="zh-CN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Test R2</a:t>
                      </a:r>
                      <a:endParaRPr lang="zh-CN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解释</a:t>
                      </a:r>
                      <a:endParaRPr lang="zh-CN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log_l1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18.22%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0.8834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R2 较好但 MAPE 变差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z_weighted_mape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16.92%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0.7964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单配置中最好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log_huber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19.12%</a:t>
                      </a:r>
                      <a:endParaRPr lang="en-US" alt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0.8946</a:t>
                      </a:r>
                      <a:endParaRPr lang="en-US" alt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R2 </a:t>
                      </a:r>
                      <a:r>
                        <a:rPr lang="zh-CN" altLang="en-US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高，但 </a:t>
                      </a:r>
                      <a:r>
                        <a:rPr lang="en-US" alt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MAPE </a:t>
                      </a:r>
                      <a:r>
                        <a:rPr lang="zh-CN" altLang="en-US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更差</a:t>
                      </a:r>
                      <a:endParaRPr lang="zh-CN" altLang="en-US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log_l1_z_weighted</a:t>
                      </a:r>
                      <a:endParaRPr lang="en-US" alt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7.95%</a:t>
                      </a:r>
                      <a:endParaRPr lang="en-US" alt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0.9058</a:t>
                      </a:r>
                      <a:endParaRPr lang="en-US" alt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R2 </a:t>
                      </a:r>
                      <a:r>
                        <a:rPr lang="zh-CN" altLang="en-US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很高，但 </a:t>
                      </a:r>
                      <a:r>
                        <a:rPr lang="en-US" alt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MAPE </a:t>
                      </a:r>
                      <a:r>
                        <a:rPr lang="zh-CN" altLang="en-US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不够好</a:t>
                      </a:r>
                      <a:endParaRPr lang="zh-CN" altLang="en-US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文本框 3"/>
          <p:cNvSpPr txBox="1"/>
          <p:nvPr/>
        </p:nvSpPr>
        <p:spPr>
          <a:xfrm>
            <a:off x="354965" y="1102360"/>
            <a:ext cx="4079875" cy="1464310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algn="l">
              <a:spcAft>
                <a:spcPts val="60"/>
              </a:spcAft>
            </a:pPr>
            <a:r>
              <a:rPr lang="zh-CN" altLang="en-US" sz="2000"/>
              <a:t>前两次主要在“推理阶段”做集成和加权，第三次想从“训练目标”本身入手，让模型更关注 </a:t>
            </a:r>
            <a:r>
              <a:rPr lang="en-US" altLang="zh-CN" sz="2000"/>
              <a:t>MAPE </a:t>
            </a:r>
            <a:r>
              <a:rPr lang="zh-CN" altLang="en-US" sz="2000"/>
              <a:t>难降的区域。</a:t>
            </a:r>
            <a:endParaRPr lang="zh-CN" altLang="en-US" sz="2000"/>
          </a:p>
          <a:p>
            <a:pPr algn="l">
              <a:spcAft>
                <a:spcPts val="60"/>
              </a:spcAft>
            </a:pPr>
            <a:endParaRPr lang="zh-CN" altLang="en-US" sz="2000"/>
          </a:p>
        </p:txBody>
      </p:sp>
      <p:graphicFrame>
        <p:nvGraphicFramePr>
          <p:cNvPr id="8" name="表格 7"/>
          <p:cNvGraphicFramePr/>
          <p:nvPr>
            <p:custDataLst>
              <p:tags r:id="rId2"/>
            </p:custDataLst>
          </p:nvPr>
        </p:nvGraphicFramePr>
        <p:xfrm>
          <a:off x="219075" y="2663825"/>
          <a:ext cx="4313555" cy="3093085"/>
        </p:xfrm>
        <a:graphic>
          <a:graphicData uri="http://schemas.openxmlformats.org/drawingml/2006/table">
            <a:tbl>
              <a:tblPr/>
              <a:tblGrid>
                <a:gridCol w="1235075"/>
                <a:gridCol w="1957705"/>
                <a:gridCol w="1120775"/>
              </a:tblGrid>
              <a:tr h="207010">
                <a:tc>
                  <a:txBody>
                    <a:bodyPr/>
                    <a:p>
                      <a:pPr marL="0" indent="0" fontAlgn="t" latinLnBrk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</a:t>
                      </a:r>
                      <a:endParaRPr lang="zh-CN" altLang="en-US" sz="1100" b="0" i="0">
                        <a:solidFill>
                          <a:srgbClr val="1A1C1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52717" marT="51117" marB="511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 latinLnBrk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原理</a:t>
                      </a:r>
                      <a:endParaRPr lang="zh-CN" altLang="en-US" sz="1100" b="0" i="0">
                        <a:solidFill>
                          <a:srgbClr val="1A1C1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52717" marT="51117" marB="511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 latinLnBrk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目的</a:t>
                      </a:r>
                      <a:endParaRPr lang="zh-CN" altLang="en-US" sz="1100" b="0" i="0">
                        <a:solidFill>
                          <a:srgbClr val="1A1C1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51117" marB="511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41375">
                <a:tc>
                  <a:txBody>
                    <a:bodyPr/>
                    <a:p>
                      <a:pPr marL="0" indent="0" fontAlgn="t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log_l1</a:t>
                      </a:r>
                      <a:endParaRPr lang="en-US" altLang="zh-CN" sz="1000" i="0">
                        <a:solidFill>
                          <a:srgbClr val="1A1C1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52717" marT="63817" marB="638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预测</a:t>
                      </a:r>
                      <a:r>
                        <a:rPr lang="en-US" altLang="zh-CN" sz="11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 </a:t>
                      </a:r>
                      <a:r>
                        <a:rPr lang="en-US" altLang="zh-CN" sz="10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log1p(overpressure)</a:t>
                      </a:r>
                      <a:r>
                        <a:rPr lang="zh-CN" altLang="en-US" sz="11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，用 </a:t>
                      </a:r>
                      <a:r>
                        <a:rPr lang="en-US" altLang="zh-CN" sz="11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L1 loss</a:t>
                      </a:r>
                      <a:endParaRPr lang="en-US" altLang="zh-CN" sz="1100" i="0">
                        <a:solidFill>
                          <a:srgbClr val="1A1C1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63817" marB="638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压缩大值，让模型更关注相对变化</a:t>
                      </a:r>
                      <a:endParaRPr lang="zh-CN" altLang="en-US" sz="1100" i="0">
                        <a:solidFill>
                          <a:srgbClr val="1A1C1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41375">
                <a:tc>
                  <a:txBody>
                    <a:bodyPr/>
                    <a:p>
                      <a:pPr marL="0" indent="0" fontAlgn="t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log_huber</a:t>
                      </a:r>
                      <a:endParaRPr lang="en-US" altLang="zh-CN" sz="1000" i="0">
                        <a:solidFill>
                          <a:srgbClr val="1A1C1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52717" marT="63817" marB="638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预测</a:t>
                      </a:r>
                      <a:r>
                        <a:rPr lang="en-US" altLang="zh-CN" sz="11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 </a:t>
                      </a:r>
                      <a:r>
                        <a:rPr lang="en-US" altLang="zh-CN" sz="10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log1p(overpressure)</a:t>
                      </a:r>
                      <a:r>
                        <a:rPr lang="zh-CN" altLang="en-US" sz="11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，用 </a:t>
                      </a:r>
                      <a:r>
                        <a:rPr lang="en-US" altLang="zh-CN" sz="11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Huber loss</a:t>
                      </a:r>
                      <a:endParaRPr lang="en-US" altLang="zh-CN" sz="1100" i="0">
                        <a:solidFill>
                          <a:srgbClr val="1A1C1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63817" marB="638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比 </a:t>
                      </a:r>
                      <a:r>
                        <a:rPr lang="en-US" altLang="zh-CN" sz="11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L1 </a:t>
                      </a:r>
                      <a:r>
                        <a:rPr lang="zh-CN" altLang="en-US" sz="11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更平滑，减弱异常点影响</a:t>
                      </a:r>
                      <a:endParaRPr lang="zh-CN" altLang="en-US" sz="1100" i="0">
                        <a:solidFill>
                          <a:srgbClr val="1A1C1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63817" marB="638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8500">
                <a:tc>
                  <a:txBody>
                    <a:bodyPr/>
                    <a:p>
                      <a:pPr marL="0" indent="0" fontAlgn="t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z_weighted_mape</a:t>
                      </a:r>
                      <a:endParaRPr lang="en-US" altLang="zh-CN" sz="1000" i="0">
                        <a:solidFill>
                          <a:srgbClr val="1A1C1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52717" marT="63817" marB="638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保持线性超压目标，但高</a:t>
                      </a:r>
                      <a:r>
                        <a:rPr lang="en-US" altLang="zh-CN" sz="11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 </a:t>
                      </a:r>
                      <a:r>
                        <a:rPr lang="en-US" altLang="zh-CN" sz="10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Z</a:t>
                      </a:r>
                      <a:r>
                        <a:rPr lang="en-US" altLang="zh-CN" sz="11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 </a:t>
                      </a:r>
                      <a:r>
                        <a:rPr lang="zh-CN" altLang="en-US" sz="11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样本给更大权重</a:t>
                      </a:r>
                      <a:endParaRPr lang="zh-CN" altLang="en-US" sz="1100" i="0">
                        <a:solidFill>
                          <a:srgbClr val="1A1C1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63817" marB="638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让模型更关注远场</a:t>
                      </a:r>
                      <a:r>
                        <a:rPr lang="en-US" altLang="zh-CN" sz="11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1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低超压难点</a:t>
                      </a:r>
                      <a:endParaRPr lang="zh-CN" altLang="en-US" sz="1100" i="0">
                        <a:solidFill>
                          <a:srgbClr val="1A1C1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63817" marB="638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4825">
                <a:tc>
                  <a:txBody>
                    <a:bodyPr/>
                    <a:p>
                      <a:pPr marL="0" indent="0" fontAlgn="t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log_l1_z_weighted</a:t>
                      </a:r>
                      <a:endParaRPr lang="en-US" altLang="zh-CN" sz="1000" i="0">
                        <a:solidFill>
                          <a:srgbClr val="1A1C1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52717" marT="63817" marB="1527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log </a:t>
                      </a:r>
                      <a:r>
                        <a:rPr lang="zh-CN" altLang="en-US" sz="11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目标 </a:t>
                      </a:r>
                      <a:r>
                        <a:rPr lang="en-US" altLang="zh-CN" sz="11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1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高</a:t>
                      </a:r>
                      <a:r>
                        <a:rPr lang="en-US" altLang="zh-CN" sz="11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 </a:t>
                      </a:r>
                      <a:r>
                        <a:rPr lang="en-US" altLang="zh-CN" sz="10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Z</a:t>
                      </a:r>
                      <a:r>
                        <a:rPr lang="en-US" altLang="zh-CN" sz="11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 </a:t>
                      </a:r>
                      <a:r>
                        <a:rPr lang="zh-CN" altLang="en-US" sz="11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加权</a:t>
                      </a:r>
                      <a:endParaRPr lang="zh-CN" altLang="en-US" sz="1100" i="0">
                        <a:solidFill>
                          <a:srgbClr val="1A1C1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63817" marB="1527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i="0">
                          <a:solidFill>
                            <a:srgbClr val="1A1C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同时处理相对误差和远场难点</a:t>
                      </a:r>
                      <a:endParaRPr lang="zh-CN" altLang="en-US" sz="1100" i="0">
                        <a:solidFill>
                          <a:srgbClr val="1A1C1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1527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5CE74E-AB26-4998-AD42-012C4C1AD076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9" name="标题 1"/>
          <p:cNvSpPr>
            <a:spLocks noGrp="1"/>
          </p:cNvSpPr>
          <p:nvPr>
            <p:ph type="title"/>
          </p:nvPr>
        </p:nvSpPr>
        <p:spPr>
          <a:xfrm>
            <a:off x="287975" y="136638"/>
            <a:ext cx="10515600" cy="599151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MAPE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专项训练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572000" y="987425"/>
          <a:ext cx="748982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815"/>
                <a:gridCol w="1322070"/>
                <a:gridCol w="1322070"/>
                <a:gridCol w="2642870"/>
              </a:tblGrid>
              <a:tr h="877824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配置/策略</a:t>
                      </a:r>
                      <a:endParaRPr lang="zh-CN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Test MAPE</a:t>
                      </a:r>
                      <a:endParaRPr lang="zh-CN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Test R2</a:t>
                      </a:r>
                      <a:endParaRPr lang="zh-CN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解释</a:t>
                      </a:r>
                      <a:endParaRPr lang="zh-CN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log_l1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18.22%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0.8834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R2 较好但 MAPE 变差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z_weighted_mape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16.92%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0.7964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单配置中最好</a:t>
                      </a:r>
                      <a:endParaRPr 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800"/>
                        <a:t>log_huber</a:t>
                      </a:r>
                      <a:endParaRPr lang="en-US" altLang="zh-CN" sz="1800"/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19.12%</a:t>
                      </a:r>
                      <a:endParaRPr lang="en-US" alt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0.8946</a:t>
                      </a:r>
                      <a:endParaRPr lang="en-US" alt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R2 </a:t>
                      </a:r>
                      <a:r>
                        <a:rPr lang="zh-CN" altLang="en-US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高，但 </a:t>
                      </a:r>
                      <a:r>
                        <a:rPr lang="en-US" alt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MAPE </a:t>
                      </a:r>
                      <a:r>
                        <a:rPr lang="zh-CN" altLang="en-US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更差</a:t>
                      </a:r>
                      <a:endParaRPr lang="zh-CN" altLang="en-US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log_l1_z_weighted</a:t>
                      </a:r>
                      <a:endParaRPr lang="en-US" alt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7.95%</a:t>
                      </a:r>
                      <a:endParaRPr lang="en-US" alt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0.9058</a:t>
                      </a:r>
                      <a:endParaRPr lang="en-US" altLang="zh-CN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R2 </a:t>
                      </a:r>
                      <a:r>
                        <a:rPr lang="zh-CN" altLang="en-US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很高，但 </a:t>
                      </a:r>
                      <a:r>
                        <a:rPr lang="en-US" altLang="zh-CN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MAPE </a:t>
                      </a:r>
                      <a:r>
                        <a:rPr lang="zh-CN" altLang="en-US" sz="1800">
                          <a:solidFill>
                            <a:srgbClr val="2222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不够好</a:t>
                      </a:r>
                      <a:endParaRPr lang="zh-CN" altLang="en-US" sz="1800">
                        <a:solidFill>
                          <a:srgbClr val="2222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 marT="22860" marB="22860" anchor="ctr"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文本框 3"/>
          <p:cNvSpPr txBox="1"/>
          <p:nvPr/>
        </p:nvSpPr>
        <p:spPr>
          <a:xfrm>
            <a:off x="354965" y="1102360"/>
            <a:ext cx="4079875" cy="4406265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algn="l">
              <a:spcAft>
                <a:spcPts val="60"/>
              </a:spcAft>
            </a:pPr>
            <a:r>
              <a:rPr lang="zh-CN" altLang="en-US"/>
              <a:t>后来又把这些配置做了配置级集成，最好的 </a:t>
            </a:r>
            <a:r>
              <a:rPr lang="en-US" altLang="zh-CN"/>
              <a:t>softmax_top3_t2 </a:t>
            </a:r>
            <a:r>
              <a:rPr lang="zh-CN" altLang="en-US"/>
              <a:t>是：</a:t>
            </a:r>
            <a:endParaRPr lang="zh-CN" altLang="en-US"/>
          </a:p>
          <a:p>
            <a:pPr algn="l">
              <a:spcAft>
                <a:spcPts val="60"/>
              </a:spcAft>
            </a:pPr>
            <a:endParaRPr lang="en-US" altLang="zh-CN"/>
          </a:p>
          <a:p>
            <a:pPr algn="l">
              <a:spcAft>
                <a:spcPts val="60"/>
              </a:spcAft>
            </a:pPr>
            <a:r>
              <a:rPr lang="en-US" altLang="zh-CN"/>
              <a:t>Test MAPE = 16.14%</a:t>
            </a:r>
            <a:endParaRPr lang="en-US" altLang="zh-CN"/>
          </a:p>
          <a:p>
            <a:pPr algn="l">
              <a:spcAft>
                <a:spcPts val="60"/>
              </a:spcAft>
            </a:pPr>
            <a:r>
              <a:rPr lang="en-US" altLang="zh-CN"/>
              <a:t>Test R2 = 0.9046</a:t>
            </a:r>
            <a:endParaRPr lang="en-US" altLang="zh-CN"/>
          </a:p>
          <a:p>
            <a:pPr algn="l">
              <a:spcAft>
                <a:spcPts val="60"/>
              </a:spcAft>
            </a:pPr>
            <a:endParaRPr lang="en-US" altLang="zh-CN"/>
          </a:p>
          <a:p>
            <a:pPr algn="l">
              <a:spcAft>
                <a:spcPts val="60"/>
              </a:spcAft>
            </a:pPr>
            <a:r>
              <a:rPr lang="zh-CN" altLang="en-US"/>
              <a:t>主指标是 </a:t>
            </a:r>
            <a:r>
              <a:rPr lang="en-US" altLang="zh-CN"/>
              <a:t>MAPE，log </a:t>
            </a:r>
            <a:r>
              <a:rPr lang="zh-CN" altLang="en-US"/>
              <a:t>目标并没有直接把 </a:t>
            </a:r>
            <a:r>
              <a:rPr lang="en-US" altLang="zh-CN"/>
              <a:t>MAPE </a:t>
            </a:r>
            <a:r>
              <a:rPr lang="zh-CN" altLang="en-US"/>
              <a:t>降下来。</a:t>
            </a:r>
            <a:endParaRPr lang="zh-CN" altLang="en-US"/>
          </a:p>
          <a:p>
            <a:pPr algn="l">
              <a:spcAft>
                <a:spcPts val="60"/>
              </a:spcAft>
            </a:pPr>
            <a:r>
              <a:rPr lang="en-US" altLang="zh-CN"/>
              <a:t>z_weighted_mape </a:t>
            </a:r>
            <a:r>
              <a:rPr lang="zh-CN" altLang="en-US"/>
              <a:t>更贴近主指标，因为它还是在优化 </a:t>
            </a:r>
            <a:r>
              <a:rPr lang="en-US" altLang="zh-CN"/>
              <a:t>MAPE，</a:t>
            </a:r>
            <a:r>
              <a:rPr lang="zh-CN" altLang="en-US"/>
              <a:t>只是对远场样本加权。</a:t>
            </a:r>
            <a:endParaRPr lang="zh-CN" altLang="en-US"/>
          </a:p>
          <a:p>
            <a:pPr algn="l">
              <a:spcAft>
                <a:spcPts val="60"/>
              </a:spcAft>
            </a:pPr>
            <a:r>
              <a:rPr lang="zh-CN" altLang="en-US"/>
              <a:t>第三次最好的 16.14% 比第一次 16.85% 好，但没有超过第二次快速加权的 15.79%。</a:t>
            </a:r>
            <a:endParaRPr lang="zh-CN" altLang="en-US"/>
          </a:p>
          <a:p>
            <a:pPr algn="l">
              <a:spcAft>
                <a:spcPts val="60"/>
              </a:spcAft>
            </a:pPr>
            <a:endParaRPr lang="en-US" altLang="zh-CN"/>
          </a:p>
          <a:p>
            <a:pPr algn="l">
              <a:spcAft>
                <a:spcPts val="60"/>
              </a:spcAft>
            </a:pPr>
            <a:r>
              <a:rPr lang="zh-CN" altLang="en-US"/>
              <a:t>改训练目标有一定帮助，但不如成员筛选和加权有效；</a:t>
            </a:r>
            <a:r>
              <a:rPr lang="en-US" altLang="zh-CN"/>
              <a:t>log </a:t>
            </a:r>
            <a:r>
              <a:rPr lang="zh-CN" altLang="en-US"/>
              <a:t>目标更像是在提高 </a:t>
            </a:r>
            <a:r>
              <a:rPr lang="en-US" altLang="zh-CN"/>
              <a:t>R2，</a:t>
            </a:r>
            <a:r>
              <a:rPr lang="zh-CN" altLang="en-US"/>
              <a:t>不适合作为继续压 </a:t>
            </a:r>
            <a:r>
              <a:rPr lang="en-US" altLang="zh-CN"/>
              <a:t>MAPE </a:t>
            </a:r>
            <a:r>
              <a:rPr lang="zh-CN" altLang="en-US"/>
              <a:t>的主方向。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39" b="12068"/>
          <a:stretch>
            <a:fillRect/>
          </a:stretch>
        </p:blipFill>
        <p:spPr>
          <a:xfrm>
            <a:off x="83128" y="167501"/>
            <a:ext cx="3953164" cy="11453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8" r="14726" b="48018"/>
          <a:stretch>
            <a:fillRect/>
          </a:stretch>
        </p:blipFill>
        <p:spPr>
          <a:xfrm>
            <a:off x="6321176" y="2355164"/>
            <a:ext cx="5870824" cy="1542449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857500" y="2354564"/>
            <a:ext cx="9334500" cy="1543049"/>
          </a:xfrm>
          <a:prstGeom prst="rect">
            <a:avLst/>
          </a:prstGeom>
          <a:gradFill flip="none" rotWithShape="1">
            <a:gsLst>
              <a:gs pos="35000">
                <a:srgbClr val="014924"/>
              </a:gs>
              <a:gs pos="0">
                <a:srgbClr val="014924"/>
              </a:gs>
              <a:gs pos="59000">
                <a:srgbClr val="014924">
                  <a:alpha val="95000"/>
                </a:srgbClr>
              </a:gs>
              <a:gs pos="77000">
                <a:srgbClr val="014924">
                  <a:alpha val="70000"/>
                </a:srgbClr>
              </a:gs>
              <a:gs pos="100000">
                <a:srgbClr val="014924">
                  <a:alpha val="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1123950" y="2354565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3" name="矩形 12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407285" y="2903577"/>
              <a:ext cx="976380" cy="110680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en-US" altLang="zh-CN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3054350" y="2710815"/>
            <a:ext cx="6308090" cy="70548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下一轮优先方向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448800" y="6317519"/>
            <a:ext cx="2743200" cy="283029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5CE74E-AB26-4998-AD42-012C4C1AD076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9" name="标题 1"/>
          <p:cNvSpPr>
            <a:spLocks noGrp="1"/>
          </p:cNvSpPr>
          <p:nvPr>
            <p:ph type="title"/>
          </p:nvPr>
        </p:nvSpPr>
        <p:spPr>
          <a:xfrm>
            <a:off x="287975" y="136638"/>
            <a:ext cx="10515600" cy="599151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下一轮优先方向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3"/>
          <p:cNvSpPr txBox="1"/>
          <p:nvPr/>
        </p:nvSpPr>
        <p:spPr>
          <a:xfrm>
            <a:off x="354965" y="1102360"/>
            <a:ext cx="11228070" cy="4869815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algn="l">
              <a:spcAft>
                <a:spcPts val="60"/>
              </a:spcAft>
            </a:pPr>
            <a:r>
              <a:rPr lang="zh-CN" altLang="en-US" sz="2000"/>
              <a:t>第一优先方向是严格 </a:t>
            </a:r>
            <a:r>
              <a:rPr lang="en-US" altLang="zh-CN" sz="2000"/>
              <a:t>validation </a:t>
            </a:r>
            <a:r>
              <a:rPr lang="zh-CN" altLang="en-US" sz="2000"/>
              <a:t>驱动的全局集成。保留当前 10 维物理特征和 </a:t>
            </a:r>
            <a:r>
              <a:rPr lang="en-US" altLang="zh-CN" sz="2000"/>
              <a:t>MAPE loss，</a:t>
            </a:r>
            <a:r>
              <a:rPr lang="zh-CN" altLang="en-US" sz="2000"/>
              <a:t>训练 6 到 8 个轻量成员，只在 </a:t>
            </a:r>
            <a:r>
              <a:rPr lang="en-US" altLang="zh-CN" sz="2000"/>
              <a:t>dropout、learning rate、weight decay </a:t>
            </a:r>
            <a:r>
              <a:rPr lang="zh-CN" altLang="en-US" sz="2000"/>
              <a:t>和 </a:t>
            </a:r>
            <a:r>
              <a:rPr lang="en-US" altLang="zh-CN" sz="2000"/>
              <a:t>seed </a:t>
            </a:r>
            <a:r>
              <a:rPr lang="zh-CN" altLang="en-US" sz="2000"/>
              <a:t>上做小范围多样性。策略候选限定为 `</a:t>
            </a:r>
            <a:r>
              <a:rPr lang="en-US" altLang="zh-CN" sz="2000"/>
              <a:t>top2`、`top3`、`equal_top3`、`inv_mape_top3`、`softmax_top3_t2`、`softmax_top3_t5`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spcAft>
                <a:spcPts val="60"/>
              </a:spcAft>
            </a:pPr>
            <a:endParaRPr lang="zh-CN" altLang="en-US" sz="2000"/>
          </a:p>
          <a:p>
            <a:pPr algn="l">
              <a:spcAft>
                <a:spcPts val="60"/>
              </a:spcAft>
            </a:pPr>
            <a:r>
              <a:rPr lang="zh-CN" altLang="en-US" sz="2000"/>
              <a:t>同一个 </a:t>
            </a:r>
            <a:r>
              <a:rPr lang="en-US" altLang="zh-CN" sz="2000"/>
              <a:t>MLP </a:t>
            </a:r>
            <a:r>
              <a:rPr lang="zh-CN" altLang="en-US" sz="2000"/>
              <a:t>结构在不同 </a:t>
            </a:r>
            <a:r>
              <a:rPr lang="en-US" altLang="zh-CN" sz="2000"/>
              <a:t>dropout、</a:t>
            </a:r>
            <a:r>
              <a:rPr lang="zh-CN" altLang="en-US" sz="2000"/>
              <a:t>学习率、</a:t>
            </a:r>
            <a:r>
              <a:rPr lang="en-US" altLang="zh-CN" sz="2000"/>
              <a:t>weight decay、</a:t>
            </a:r>
            <a:r>
              <a:rPr lang="zh-CN" altLang="en-US" sz="2000"/>
              <a:t>随机种子下，会学到略有差异的误差模式。单个模型可能在某些 </a:t>
            </a:r>
            <a:r>
              <a:rPr lang="en-US" altLang="zh-CN" sz="2000"/>
              <a:t>case </a:t>
            </a:r>
            <a:r>
              <a:rPr lang="zh-CN" altLang="en-US" sz="2000"/>
              <a:t>上偏高、另一些 </a:t>
            </a:r>
            <a:r>
              <a:rPr lang="en-US" altLang="zh-CN" sz="2000"/>
              <a:t>case </a:t>
            </a:r>
            <a:r>
              <a:rPr lang="zh-CN" altLang="en-US" sz="2000"/>
              <a:t>上偏低；如果这些误差不是完全同步的，集成平均或加权就能降低方差，让预测更稳。</a:t>
            </a:r>
            <a:endParaRPr lang="zh-CN" altLang="en-US" sz="2000"/>
          </a:p>
          <a:p>
            <a:pPr algn="l">
              <a:spcAft>
                <a:spcPts val="60"/>
              </a:spcAft>
            </a:pPr>
            <a:endParaRPr lang="en-US" altLang="zh-CN" sz="2000"/>
          </a:p>
          <a:p>
            <a:pPr algn="l">
              <a:spcAft>
                <a:spcPts val="60"/>
              </a:spcAft>
            </a:pPr>
            <a:r>
              <a:rPr lang="en-US" altLang="zh-CN" sz="2000"/>
              <a:t>top2/top3：</a:t>
            </a:r>
            <a:r>
              <a:rPr lang="zh-CN" altLang="en-US" sz="2000"/>
              <a:t>只用 </a:t>
            </a:r>
            <a:r>
              <a:rPr lang="en-US" altLang="zh-CN" sz="2000"/>
              <a:t>validation MAPE </a:t>
            </a:r>
            <a:r>
              <a:rPr lang="zh-CN" altLang="en-US" sz="2000"/>
              <a:t>最好的 2 或 3 个成员，避免差成员拖后腿。</a:t>
            </a:r>
            <a:endParaRPr lang="zh-CN" altLang="en-US" sz="2000"/>
          </a:p>
          <a:p>
            <a:pPr algn="l">
              <a:spcAft>
                <a:spcPts val="60"/>
              </a:spcAft>
            </a:pPr>
            <a:r>
              <a:rPr lang="en-US" altLang="zh-CN" sz="2000"/>
              <a:t>equal_top3：</a:t>
            </a:r>
            <a:r>
              <a:rPr lang="zh-CN" altLang="en-US" sz="2000"/>
              <a:t>前三名等权，简单稳健。</a:t>
            </a:r>
            <a:endParaRPr lang="zh-CN" altLang="en-US" sz="2000"/>
          </a:p>
          <a:p>
            <a:pPr algn="l">
              <a:spcAft>
                <a:spcPts val="60"/>
              </a:spcAft>
            </a:pPr>
            <a:r>
              <a:rPr lang="en-US" altLang="zh-CN" sz="2000"/>
              <a:t>inv_mape_top3：validation MAPE </a:t>
            </a:r>
            <a:r>
              <a:rPr lang="zh-CN" altLang="en-US" sz="2000"/>
              <a:t>越低，权重越大。</a:t>
            </a:r>
            <a:endParaRPr lang="zh-CN" altLang="en-US" sz="2000"/>
          </a:p>
          <a:p>
            <a:pPr algn="l">
              <a:spcAft>
                <a:spcPts val="60"/>
              </a:spcAft>
            </a:pPr>
            <a:r>
              <a:rPr lang="en-US" altLang="zh-CN" sz="2000"/>
              <a:t>softmax_top3_t2/t5：</a:t>
            </a:r>
            <a:r>
              <a:rPr lang="zh-CN" altLang="en-US" sz="2000"/>
              <a:t>也是按 </a:t>
            </a:r>
            <a:r>
              <a:rPr lang="en-US" altLang="zh-CN" sz="2000"/>
              <a:t>validation MAPE </a:t>
            </a:r>
            <a:r>
              <a:rPr lang="zh-CN" altLang="en-US" sz="2000"/>
              <a:t>分权，</a:t>
            </a:r>
            <a:r>
              <a:rPr lang="en-US" altLang="zh-CN" sz="2000"/>
              <a:t>T=2 </a:t>
            </a:r>
            <a:r>
              <a:rPr lang="zh-CN" altLang="en-US" sz="2000"/>
              <a:t>更偏向最优成员，</a:t>
            </a:r>
            <a:r>
              <a:rPr lang="en-US" altLang="zh-CN" sz="2000"/>
              <a:t>T=5 </a:t>
            </a:r>
            <a:r>
              <a:rPr lang="zh-CN" altLang="en-US" sz="2000"/>
              <a:t>更平均。</a:t>
            </a:r>
            <a:endParaRPr lang="zh-CN" altLang="en-US" sz="2000"/>
          </a:p>
          <a:p>
            <a:pPr algn="l">
              <a:spcAft>
                <a:spcPts val="60"/>
              </a:spcAft>
            </a:pPr>
            <a:endParaRPr lang="en-US" altLang="zh-CN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5CE74E-AB26-4998-AD42-012C4C1AD076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9" name="标题 1"/>
          <p:cNvSpPr>
            <a:spLocks noGrp="1"/>
          </p:cNvSpPr>
          <p:nvPr>
            <p:ph type="title"/>
          </p:nvPr>
        </p:nvSpPr>
        <p:spPr>
          <a:xfrm>
            <a:off x="287975" y="136638"/>
            <a:ext cx="10515600" cy="599151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下一轮优先方向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3"/>
          <p:cNvSpPr txBox="1"/>
          <p:nvPr/>
        </p:nvSpPr>
        <p:spPr>
          <a:xfrm>
            <a:off x="354965" y="1102360"/>
            <a:ext cx="11228070" cy="4476115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algn="l">
              <a:spcAft>
                <a:spcPts val="60"/>
              </a:spcAft>
            </a:pPr>
            <a:r>
              <a:rPr lang="zh-CN" altLang="en-US" sz="2000"/>
              <a:t>第二优先方向是难区感知集成，但必须保持保守。难区只允许用 </a:t>
            </a:r>
            <a:r>
              <a:rPr lang="en-US" altLang="zh-CN" sz="2000"/>
              <a:t>train/validation </a:t>
            </a:r>
            <a:r>
              <a:rPr lang="zh-CN" altLang="en-US" sz="2000"/>
              <a:t>中确定的 `</a:t>
            </a:r>
            <a:r>
              <a:rPr lang="en-US" altLang="zh-CN" sz="2000"/>
              <a:t>Z` </a:t>
            </a:r>
            <a:r>
              <a:rPr lang="zh-CN" altLang="en-US" sz="2000"/>
              <a:t>分位阈值、坐标/爆距特征和模型预测超压来识别；推理 </a:t>
            </a:r>
            <a:r>
              <a:rPr lang="en-US" altLang="zh-CN" sz="2000"/>
              <a:t>test </a:t>
            </a:r>
            <a:r>
              <a:rPr lang="zh-CN" altLang="en-US" sz="2000"/>
              <a:t>时不能使用真实 </a:t>
            </a:r>
            <a:r>
              <a:rPr lang="en-US" altLang="zh-CN" sz="2000"/>
              <a:t>test </a:t>
            </a:r>
            <a:r>
              <a:rPr lang="zh-CN" altLang="en-US" sz="2000"/>
              <a:t>超压作为分段依据。每个区域最多选 2 到 3 个成员或一套 </a:t>
            </a:r>
            <a:r>
              <a:rPr lang="en-US" altLang="zh-CN" sz="2000"/>
              <a:t>Softmax </a:t>
            </a:r>
            <a:r>
              <a:rPr lang="zh-CN" altLang="en-US" sz="2000"/>
              <a:t>权重，区域样本不足时回退到全局权重。</a:t>
            </a:r>
            <a:endParaRPr lang="zh-CN" altLang="en-US" sz="2000"/>
          </a:p>
          <a:p>
            <a:pPr algn="l">
              <a:spcAft>
                <a:spcPts val="60"/>
              </a:spcAft>
            </a:pPr>
            <a:endParaRPr lang="zh-CN" altLang="en-US" sz="2000"/>
          </a:p>
          <a:p>
            <a:pPr algn="l">
              <a:spcAft>
                <a:spcPts val="60"/>
              </a:spcAft>
            </a:pPr>
            <a:r>
              <a:rPr lang="zh-CN" altLang="en-US" sz="2000"/>
              <a:t>全局集成假设“一套权重适合所有测点”，但现在看起来高 </a:t>
            </a:r>
            <a:r>
              <a:rPr lang="en-US" altLang="zh-CN" sz="2000"/>
              <a:t>Z、</a:t>
            </a:r>
            <a:r>
              <a:rPr lang="zh-CN" altLang="en-US" sz="2000"/>
              <a:t>低超压区域明显更难。也就是说，某个成员可能整体不是最优，但在远场/低压区更好；另一个成员可能近场更好。如果仍然全局平均，就会把这种区域差异抹掉。</a:t>
            </a:r>
            <a:endParaRPr lang="zh-CN" altLang="en-US" sz="2000"/>
          </a:p>
          <a:p>
            <a:pPr algn="l">
              <a:spcAft>
                <a:spcPts val="60"/>
              </a:spcAft>
            </a:pPr>
            <a:endParaRPr lang="en-US" altLang="zh-CN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5CE74E-AB26-4998-AD42-012C4C1AD076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9" name="标题 1"/>
          <p:cNvSpPr>
            <a:spLocks noGrp="1"/>
          </p:cNvSpPr>
          <p:nvPr>
            <p:ph type="title"/>
          </p:nvPr>
        </p:nvSpPr>
        <p:spPr>
          <a:xfrm>
            <a:off x="287975" y="136638"/>
            <a:ext cx="10515600" cy="599151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下一轮优先方向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3"/>
          <p:cNvSpPr txBox="1"/>
          <p:nvPr/>
        </p:nvSpPr>
        <p:spPr>
          <a:xfrm>
            <a:off x="354965" y="1102360"/>
            <a:ext cx="11228070" cy="4476115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algn="l">
              <a:spcAft>
                <a:spcPts val="60"/>
              </a:spcAft>
            </a:pPr>
            <a:r>
              <a:rPr lang="zh-CN" altLang="en-US" sz="2000"/>
              <a:t>第三优先方向是难区加权训练。暂不扩大 </a:t>
            </a:r>
            <a:r>
              <a:rPr lang="en-US" altLang="zh-CN" sz="2000"/>
              <a:t>log </a:t>
            </a:r>
            <a:r>
              <a:rPr lang="zh-CN" altLang="en-US" sz="2000"/>
              <a:t>目标实验，只尝试 </a:t>
            </a:r>
            <a:r>
              <a:rPr lang="en-US" altLang="zh-CN" sz="2000"/>
              <a:t>capped MAPE </a:t>
            </a:r>
            <a:r>
              <a:rPr lang="zh-CN" altLang="en-US" sz="2000"/>
              <a:t>权重，例如高 `</a:t>
            </a:r>
            <a:r>
              <a:rPr lang="en-US" altLang="zh-CN" sz="2000"/>
              <a:t>Z` </a:t>
            </a:r>
            <a:r>
              <a:rPr lang="zh-CN" altLang="en-US" sz="2000"/>
              <a:t>或低预测超压区域使用 `1.0`、`1.5`、`2.0` 三档权重。阈值和权重选择仍只允许来自 </a:t>
            </a:r>
            <a:r>
              <a:rPr lang="en-US" altLang="zh-CN" sz="2000"/>
              <a:t>train/validation。</a:t>
            </a:r>
            <a:endParaRPr lang="en-US" altLang="zh-CN" sz="2000"/>
          </a:p>
          <a:p>
            <a:pPr algn="l">
              <a:spcAft>
                <a:spcPts val="60"/>
              </a:spcAft>
            </a:pPr>
            <a:endParaRPr lang="en-US" altLang="zh-CN" sz="2000"/>
          </a:p>
          <a:p>
            <a:pPr algn="l">
              <a:spcAft>
                <a:spcPts val="60"/>
              </a:spcAft>
            </a:pPr>
            <a:r>
              <a:rPr lang="zh-CN" altLang="en-US" sz="2000"/>
              <a:t>前两个方向是在训练完成后做集成；第三个方向是直接改变训练时模型关注的重点。</a:t>
            </a:r>
            <a:endParaRPr lang="zh-CN" altLang="en-US" sz="2000"/>
          </a:p>
          <a:p>
            <a:pPr algn="l">
              <a:spcAft>
                <a:spcPts val="60"/>
              </a:spcAft>
            </a:pPr>
            <a:endParaRPr lang="zh-CN" altLang="en-US" sz="2000"/>
          </a:p>
          <a:p>
            <a:pPr algn="l">
              <a:spcAft>
                <a:spcPts val="60"/>
              </a:spcAft>
            </a:pPr>
            <a:r>
              <a:rPr lang="zh-CN" altLang="en-US" sz="2000"/>
              <a:t>这里说 </a:t>
            </a:r>
            <a:r>
              <a:rPr lang="en-US" altLang="zh-CN" sz="2000"/>
              <a:t>capped MAPE，</a:t>
            </a:r>
            <a:r>
              <a:rPr lang="zh-CN" altLang="en-US" sz="2000"/>
              <a:t>是为了避免难区样本权重过大，把模型整体带偏。低超压区域的 </a:t>
            </a:r>
            <a:r>
              <a:rPr lang="en-US" altLang="zh-CN" sz="2000"/>
              <a:t>MAPE </a:t>
            </a:r>
            <a:r>
              <a:rPr lang="zh-CN" altLang="en-US" sz="2000"/>
              <a:t>很敏感，真值小的时候一点绝对误差就会变成很大的相对误差，如果无限加权，模型可能牺牲主体区域去追少量难点。所以权重只用小档位：1.0/1.5/2.0。</a:t>
            </a:r>
            <a:endParaRPr lang="zh-CN" altLang="en-US" sz="20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fcad760e7e68dd37d5f57a77de8b3f46a4cafb4"/>
  <p:tag name="KSO_WM_NEWLAYOUT_GROUP_ID" val="layout_6"/>
  <p:tag name="KSO_WM_NEWLAYOUT_ID" val="slide_2ad8094139643a7a"/>
</p:tagLst>
</file>

<file path=ppt/tags/tag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.xml><?xml version="1.0" encoding="utf-8"?>
<p:tagLst xmlns:p="http://schemas.openxmlformats.org/presentationml/2006/main">
  <p:tag name="TABLE_ENDDRAG_ORIGIN_RECT" val="547*345"/>
  <p:tag name="TABLE_ENDDRAG_RECT" val="360*77*547*345"/>
</p:tagLst>
</file>

<file path=ppt/tags/tag10.xml><?xml version="1.0" encoding="utf-8"?>
<p:tagLst xmlns:p="http://schemas.openxmlformats.org/presentationml/2006/main">
  <p:tag name="TABLE_ENDDRAG_ORIGIN_RECT" val="470*243"/>
  <p:tag name="TABLE_ENDDRAG_RECT" val="96*213*470*243"/>
</p:tagLst>
</file>

<file path=ppt/tags/tag11.xml><?xml version="1.0" encoding="utf-8"?>
<p:tagLst xmlns:p="http://schemas.openxmlformats.org/presentationml/2006/main">
  <p:tag name="TABLE_ENDDRAG_ORIGIN_RECT" val="547*345"/>
  <p:tag name="TABLE_ENDDRAG_RECT" val="360*77*547*345"/>
</p:tagLst>
</file>

<file path=ppt/tags/tag12.xml><?xml version="1.0" encoding="utf-8"?>
<p:tagLst xmlns:p="http://schemas.openxmlformats.org/presentationml/2006/main">
  <p:tag name="COMMONDATA" val="eyJoZGlkIjoiZTgzMjQ1MGZjOTJjZTlmMGNmMGFiMjFkNzg5ZjJhYzIifQ=="/>
</p:tagLst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014924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TimeNewRoman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2895</Words>
  <Application>WPS 演示</Application>
  <PresentationFormat>宽屏</PresentationFormat>
  <Paragraphs>306</Paragraphs>
  <Slides>13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-apple-system</vt:lpstr>
      <vt:lpstr>ui-monospace</vt:lpstr>
      <vt:lpstr>Segoe Print</vt:lpstr>
      <vt:lpstr>Office 主题</vt:lpstr>
      <vt:lpstr>PowerPoint 演示文稿</vt:lpstr>
      <vt:lpstr>目录</vt:lpstr>
      <vt:lpstr>PowerPoint 演示文稿</vt:lpstr>
      <vt:lpstr>1. 复现进度</vt:lpstr>
      <vt:lpstr>PowerPoint 演示文稿</vt:lpstr>
      <vt:lpstr>1. Dropout p 网格等权集成</vt:lpstr>
      <vt:lpstr>PowerPoint 演示文稿</vt:lpstr>
      <vt:lpstr>1. 复现进度</vt:lpstr>
      <vt:lpstr>3. MAPE 专项训练</vt:lpstr>
      <vt:lpstr>PowerPoint 演示文稿</vt:lpstr>
      <vt:lpstr>1. 复现进度</vt:lpstr>
      <vt:lpstr>4. 下一轮优先方向</vt:lpstr>
      <vt:lpstr>4. 下一轮优先方向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huang peiji</dc:creator>
  <cp:lastModifiedBy>小一</cp:lastModifiedBy>
  <cp:revision>44</cp:revision>
  <dcterms:created xsi:type="dcterms:W3CDTF">2024-09-01T09:05:00Z</dcterms:created>
  <dcterms:modified xsi:type="dcterms:W3CDTF">2026-06-09T19:36:09Z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15942D32088B47A4A27A40AE71506297_13</vt:lpwstr>
  </property>
  <property fmtid="{D5CDD505-2E9C-101B-9397-08002B2CF9AE}" pid="3" name="KSOProductBuildVer">
    <vt:lpwstr>2052-12.1.0.26895</vt:lpwstr>
  </property>
</Properties>
</file>